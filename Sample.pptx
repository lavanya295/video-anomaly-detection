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301" r:id="rId3"/>
    <p:sldId id="259" r:id="rId4"/>
    <p:sldId id="302" r:id="rId5"/>
    <p:sldId id="304" r:id="rId6"/>
    <p:sldId id="305" r:id="rId7"/>
    <p:sldId id="306" r:id="rId8"/>
    <p:sldId id="260" r:id="rId9"/>
    <p:sldId id="261" r:id="rId10"/>
    <p:sldId id="262" r:id="rId11"/>
    <p:sldId id="263" r:id="rId12"/>
    <p:sldId id="307" r:id="rId13"/>
    <p:sldId id="308" r:id="rId14"/>
    <p:sldId id="309" r:id="rId15"/>
    <p:sldId id="310" r:id="rId16"/>
    <p:sldId id="311" r:id="rId17"/>
    <p:sldId id="312" r:id="rId18"/>
    <p:sldId id="264" r:id="rId19"/>
    <p:sldId id="265" r:id="rId20"/>
    <p:sldId id="266" r:id="rId21"/>
    <p:sldId id="267" r:id="rId22"/>
    <p:sldId id="313" r:id="rId23"/>
    <p:sldId id="268" r:id="rId24"/>
    <p:sldId id="273" r:id="rId25"/>
    <p:sldId id="274" r:id="rId26"/>
    <p:sldId id="314" r:id="rId27"/>
    <p:sldId id="270" r:id="rId28"/>
    <p:sldId id="271" r:id="rId29"/>
    <p:sldId id="272" r:id="rId30"/>
    <p:sldId id="300" r:id="rId31"/>
  </p:sldIdLst>
  <p:sldSz cx="9144000" cy="5143500" type="screen16x9"/>
  <p:notesSz cx="6858000" cy="9144000"/>
  <p:embeddedFontLst>
    <p:embeddedFont>
      <p:font typeface="Didact Gothic" panose="00000500000000000000" pitchFamily="2" charset="0"/>
      <p:regular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Old Standard TT" panose="020B0604020202020204" charset="0"/>
      <p:regular r:id="rId38"/>
      <p:bold r:id="rId39"/>
      <p:italic r:id="rId40"/>
    </p:embeddedFont>
    <p:embeddedFont>
      <p:font typeface="Roboto Condensed Light" panose="02000000000000000000" pitchFamily="2" charset="0"/>
      <p:regular r:id="rId41"/>
      <p: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jxSeCcydRg4546MrwawMf9FpM3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2ba004bf762b5259_2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2ba004bf762b5259_2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2ba004bf762b5259_2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2ba004bf762b5259_2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2ba004bf762b5259_2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2ba004bf762b5259_2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2ba004bf762b5259_2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2ba004bf762b5259_2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2ba004bf762b5259_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h2ba004bf762b5259_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2ba004bf762b5259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2ba004bf762b5259_1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2ba004bf762b5259_1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2ba004bf762b5259_1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h2ba004bf762b5259_1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h2ba004bf762b5259_1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h2ba004bf762b5259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h2ba004bf762b5259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h2ba004bf762b5259_1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h2ba004bf762b5259_1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h2ba004bf762b5259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h2ba004bf762b5259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h2ba004bf762b5259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h2ba004bf762b5259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h2ba004bf762b5259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h2ba004bf762b5259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h2ba004bf762b5259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h2ba004bf762b5259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h2ba004bf762b5259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h2ba004bf762b5259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>
            <a:spLocks noGrp="1"/>
          </p:cNvSpPr>
          <p:nvPr>
            <p:ph type="ctrTitle"/>
          </p:nvPr>
        </p:nvSpPr>
        <p:spPr>
          <a:xfrm>
            <a:off x="1484100" y="1479650"/>
            <a:ext cx="61758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subTitle" idx="1"/>
          </p:nvPr>
        </p:nvSpPr>
        <p:spPr>
          <a:xfrm>
            <a:off x="1724250" y="3265350"/>
            <a:ext cx="5695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7"/>
          <p:cNvSpPr txBox="1">
            <a:spLocks noGrp="1"/>
          </p:cNvSpPr>
          <p:nvPr>
            <p:ph type="title"/>
          </p:nvPr>
        </p:nvSpPr>
        <p:spPr>
          <a:xfrm>
            <a:off x="1751250" y="2576650"/>
            <a:ext cx="56415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title" idx="2"/>
          </p:nvPr>
        </p:nvSpPr>
        <p:spPr>
          <a:xfrm>
            <a:off x="2996575" y="1057362"/>
            <a:ext cx="3150900" cy="13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9" name="Google Shape;39;p37"/>
          <p:cNvSpPr/>
          <p:nvPr/>
        </p:nvSpPr>
        <p:spPr>
          <a:xfrm>
            <a:off x="-20200" y="4817350"/>
            <a:ext cx="9164100" cy="3261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0" name="Google Shape;40;p37"/>
          <p:cNvSpPr txBox="1"/>
          <p:nvPr/>
        </p:nvSpPr>
        <p:spPr>
          <a:xfrm>
            <a:off x="-25" y="4832050"/>
            <a:ext cx="9144000" cy="326100"/>
          </a:xfrm>
          <a:prstGeom prst="rect">
            <a:avLst/>
          </a:prstGeom>
          <a:solidFill>
            <a:srgbClr val="28225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1" u="none" strike="noStrike" cap="none" dirty="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720000" y="1265775"/>
            <a:ext cx="7704000" cy="3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naheim"/>
              <a:buChar char="●"/>
              <a:defRPr b="1"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title"/>
          </p:nvPr>
        </p:nvSpPr>
        <p:spPr>
          <a:xfrm>
            <a:off x="720000" y="527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/>
          <p:nvPr/>
        </p:nvSpPr>
        <p:spPr>
          <a:xfrm>
            <a:off x="-20200" y="4817350"/>
            <a:ext cx="9164100" cy="3261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5" name="Google Shape;45;p33"/>
          <p:cNvSpPr txBox="1"/>
          <p:nvPr/>
        </p:nvSpPr>
        <p:spPr>
          <a:xfrm>
            <a:off x="-25" y="4832050"/>
            <a:ext cx="9144000" cy="326100"/>
          </a:xfrm>
          <a:prstGeom prst="rect">
            <a:avLst/>
          </a:prstGeom>
          <a:solidFill>
            <a:srgbClr val="28225C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1" u="none" strike="noStrike" cap="none" dirty="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9"/>
          <p:cNvSpPr txBox="1">
            <a:spLocks noGrp="1"/>
          </p:cNvSpPr>
          <p:nvPr>
            <p:ph type="title"/>
          </p:nvPr>
        </p:nvSpPr>
        <p:spPr>
          <a:xfrm>
            <a:off x="2298750" y="1249600"/>
            <a:ext cx="45465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subTitle" idx="1"/>
          </p:nvPr>
        </p:nvSpPr>
        <p:spPr>
          <a:xfrm>
            <a:off x="2298750" y="2412263"/>
            <a:ext cx="4546500" cy="1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/>
          <p:nvPr/>
        </p:nvSpPr>
        <p:spPr>
          <a:xfrm>
            <a:off x="-20200" y="4817350"/>
            <a:ext cx="9164100" cy="326100"/>
          </a:xfrm>
          <a:prstGeom prst="rect">
            <a:avLst/>
          </a:prstGeom>
          <a:solidFill>
            <a:srgbClr val="2822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50" name="Google Shape;50;p39"/>
          <p:cNvSpPr txBox="1"/>
          <p:nvPr/>
        </p:nvSpPr>
        <p:spPr>
          <a:xfrm>
            <a:off x="176075" y="4832050"/>
            <a:ext cx="89679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1" u="none" strike="noStrike" cap="none" dirty="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h2ba004bf762b5259_7_0)">
  <p:cSld name="Generated (h2ba004bf762b5259_7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64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63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  <a:defRPr sz="35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 sz="1400" b="0" i="0" u="none" strike="noStrike" cap="none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/>
          <p:nvPr/>
        </p:nvSpPr>
        <p:spPr>
          <a:xfrm>
            <a:off x="-10775" y="-26000"/>
            <a:ext cx="9144000" cy="572700"/>
          </a:xfrm>
          <a:prstGeom prst="rect">
            <a:avLst/>
          </a:prstGeom>
          <a:solidFill>
            <a:srgbClr val="28225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ctrTitle"/>
          </p:nvPr>
        </p:nvSpPr>
        <p:spPr>
          <a:xfrm>
            <a:off x="1484100" y="1094125"/>
            <a:ext cx="61758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2800" dirty="0"/>
              <a:t>Hello I’m </a:t>
            </a:r>
            <a:endParaRPr sz="2800" dirty="0"/>
          </a:p>
        </p:txBody>
      </p:sp>
      <p:sp>
        <p:nvSpPr>
          <p:cNvPr id="56" name="Google Shape;56;p1"/>
          <p:cNvSpPr txBox="1">
            <a:spLocks noGrp="1"/>
          </p:cNvSpPr>
          <p:nvPr>
            <p:ph type="subTitle" idx="1"/>
          </p:nvPr>
        </p:nvSpPr>
        <p:spPr>
          <a:xfrm>
            <a:off x="0" y="2861725"/>
            <a:ext cx="8971800" cy="6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i="1" dirty="0"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i="1" dirty="0"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DF5C3202-FE9D-8592-42CA-EBB67E53E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1</a:t>
            </a: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0FD3DA2E-DA48-D0D8-40B9-6C1B92817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End to End Project: Video anomaly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87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body" idx="1"/>
          </p:nvPr>
        </p:nvSpPr>
        <p:spPr>
          <a:xfrm>
            <a:off x="720000" y="2385307"/>
            <a:ext cx="7704000" cy="9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152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2400" dirty="0"/>
              <a:t>How to detect video anomaly from videos using Vision based techniques ?</a:t>
            </a:r>
            <a:endParaRPr dirty="0"/>
          </a:p>
        </p:txBody>
      </p:sp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720000" y="1289825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/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61;p14">
            <a:extLst>
              <a:ext uri="{FF2B5EF4-FFF2-40B4-BE49-F238E27FC236}">
                <a16:creationId xmlns:a16="http://schemas.microsoft.com/office/drawing/2014/main" id="{023BCAC6-71F5-3054-290E-FF4C86EE2086}"/>
              </a:ext>
            </a:extLst>
          </p:cNvPr>
          <p:cNvGrpSpPr/>
          <p:nvPr/>
        </p:nvGrpSpPr>
        <p:grpSpPr>
          <a:xfrm>
            <a:off x="654627" y="1198418"/>
            <a:ext cx="3753000" cy="1143000"/>
            <a:chOff x="0" y="0"/>
            <a:chExt cx="3753000" cy="1143000"/>
          </a:xfrm>
        </p:grpSpPr>
        <p:sp>
          <p:nvSpPr>
            <p:cNvPr id="5" name="Google Shape;62;p14">
              <a:extLst>
                <a:ext uri="{FF2B5EF4-FFF2-40B4-BE49-F238E27FC236}">
                  <a16:creationId xmlns:a16="http://schemas.microsoft.com/office/drawing/2014/main" id="{746D9926-4186-E2BA-F1B0-C6DAF6D569C2}"/>
                </a:ext>
              </a:extLst>
            </p:cNvPr>
            <p:cNvSpPr/>
            <p:nvPr/>
          </p:nvSpPr>
          <p:spPr>
            <a:xfrm>
              <a:off x="0" y="0"/>
              <a:ext cx="3753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" name="Google Shape;63;p14">
              <a:extLst>
                <a:ext uri="{FF2B5EF4-FFF2-40B4-BE49-F238E27FC236}">
                  <a16:creationId xmlns:a16="http://schemas.microsoft.com/office/drawing/2014/main" id="{3E9C71DB-85C9-B61E-F1F2-FBC8F8440E24}"/>
                </a:ext>
              </a:extLst>
            </p:cNvPr>
            <p:cNvSpPr/>
            <p:nvPr/>
          </p:nvSpPr>
          <p:spPr>
            <a:xfrm>
              <a:off x="0" y="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" name="Google Shape;64;p14">
              <a:extLst>
                <a:ext uri="{FF2B5EF4-FFF2-40B4-BE49-F238E27FC236}">
                  <a16:creationId xmlns:a16="http://schemas.microsoft.com/office/drawing/2014/main" id="{B41011A1-4772-4DE6-B1F6-AC1360E1B116}"/>
                </a:ext>
              </a:extLst>
            </p:cNvPr>
            <p:cNvSpPr txBox="1"/>
            <p:nvPr/>
          </p:nvSpPr>
          <p:spPr>
            <a:xfrm>
              <a:off x="171450" y="13335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E74435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Problem &amp; Safety Risks</a:t>
              </a:r>
              <a:endParaRPr sz="1200" b="1">
                <a:solidFill>
                  <a:srgbClr val="E74435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8" name="Google Shape;65;p14">
              <a:extLst>
                <a:ext uri="{FF2B5EF4-FFF2-40B4-BE49-F238E27FC236}">
                  <a16:creationId xmlns:a16="http://schemas.microsoft.com/office/drawing/2014/main" id="{84BA8015-0517-D23C-4A5D-73F86DF8D227}"/>
                </a:ext>
              </a:extLst>
            </p:cNvPr>
            <p:cNvSpPr txBox="1"/>
            <p:nvPr/>
          </p:nvSpPr>
          <p:spPr>
            <a:xfrm>
              <a:off x="171450" y="381000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1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Manual CCTV review is expensive and fatigue-prone, with one analyst monitoring eight cameras.</a:t>
              </a:r>
              <a:endParaRPr sz="971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71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Missed anomalous events create significant safety and liability risks.</a:t>
              </a:r>
              <a:endParaRPr sz="971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9" name="Google Shape;66;p14">
            <a:extLst>
              <a:ext uri="{FF2B5EF4-FFF2-40B4-BE49-F238E27FC236}">
                <a16:creationId xmlns:a16="http://schemas.microsoft.com/office/drawing/2014/main" id="{6ABF6986-10FB-E23E-0112-517E7D074603}"/>
              </a:ext>
            </a:extLst>
          </p:cNvPr>
          <p:cNvGrpSpPr/>
          <p:nvPr/>
        </p:nvGrpSpPr>
        <p:grpSpPr>
          <a:xfrm>
            <a:off x="4597977" y="1198418"/>
            <a:ext cx="3753000" cy="1143000"/>
            <a:chOff x="0" y="0"/>
            <a:chExt cx="3753000" cy="1143000"/>
          </a:xfrm>
        </p:grpSpPr>
        <p:sp>
          <p:nvSpPr>
            <p:cNvPr id="10" name="Google Shape;67;p14">
              <a:extLst>
                <a:ext uri="{FF2B5EF4-FFF2-40B4-BE49-F238E27FC236}">
                  <a16:creationId xmlns:a16="http://schemas.microsoft.com/office/drawing/2014/main" id="{F4B26BD6-6064-A0D4-74D0-A8D16E994B13}"/>
                </a:ext>
              </a:extLst>
            </p:cNvPr>
            <p:cNvSpPr/>
            <p:nvPr/>
          </p:nvSpPr>
          <p:spPr>
            <a:xfrm>
              <a:off x="0" y="0"/>
              <a:ext cx="3753000" cy="1143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1" name="Google Shape;68;p14">
              <a:extLst>
                <a:ext uri="{FF2B5EF4-FFF2-40B4-BE49-F238E27FC236}">
                  <a16:creationId xmlns:a16="http://schemas.microsoft.com/office/drawing/2014/main" id="{129AB186-3C03-5357-FEC4-73D0EB8130A0}"/>
                </a:ext>
              </a:extLst>
            </p:cNvPr>
            <p:cNvSpPr/>
            <p:nvPr/>
          </p:nvSpPr>
          <p:spPr>
            <a:xfrm>
              <a:off x="0" y="0"/>
              <a:ext cx="38100" cy="1143000"/>
            </a:xfrm>
            <a:prstGeom prst="roundRect">
              <a:avLst>
                <a:gd name="adj" fmla="val 5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2" name="Google Shape;69;p14">
              <a:extLst>
                <a:ext uri="{FF2B5EF4-FFF2-40B4-BE49-F238E27FC236}">
                  <a16:creationId xmlns:a16="http://schemas.microsoft.com/office/drawing/2014/main" id="{64CFB065-56BF-4331-42F7-5BDF5ACE5F6C}"/>
                </a:ext>
              </a:extLst>
            </p:cNvPr>
            <p:cNvSpPr txBox="1"/>
            <p:nvPr/>
          </p:nvSpPr>
          <p:spPr>
            <a:xfrm>
              <a:off x="171450" y="13335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Core Objective &amp; Use-Cases</a:t>
              </a:r>
              <a:endParaRPr sz="1200" b="1">
                <a:solidFill>
                  <a:srgbClr val="1A998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" name="Google Shape;70;p14">
              <a:extLst>
                <a:ext uri="{FF2B5EF4-FFF2-40B4-BE49-F238E27FC236}">
                  <a16:creationId xmlns:a16="http://schemas.microsoft.com/office/drawing/2014/main" id="{ED526133-981C-9630-ADC4-9125364CB6ED}"/>
                </a:ext>
              </a:extLst>
            </p:cNvPr>
            <p:cNvSpPr txBox="1"/>
            <p:nvPr/>
          </p:nvSpPr>
          <p:spPr>
            <a:xfrm>
              <a:off x="171450" y="381000"/>
              <a:ext cx="3429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71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Flag anomalous frames in near-real-time to reduce analyst workload by approximately 80%.</a:t>
              </a:r>
              <a:endParaRPr sz="971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71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Key use-cases:</a:t>
              </a:r>
              <a:r>
                <a:rPr lang="en" sz="971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crowd surges, foreign object intrusion, loitering, and unattended bags.</a:t>
              </a:r>
              <a:endParaRPr sz="971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" name="Google Shape;71;p14">
            <a:extLst>
              <a:ext uri="{FF2B5EF4-FFF2-40B4-BE49-F238E27FC236}">
                <a16:creationId xmlns:a16="http://schemas.microsoft.com/office/drawing/2014/main" id="{B275CFCA-C5F7-163E-3C28-B65C5AC08BCC}"/>
              </a:ext>
            </a:extLst>
          </p:cNvPr>
          <p:cNvGrpSpPr/>
          <p:nvPr/>
        </p:nvGrpSpPr>
        <p:grpSpPr>
          <a:xfrm>
            <a:off x="654627" y="2694709"/>
            <a:ext cx="1409700" cy="1943100"/>
            <a:chOff x="0" y="0"/>
            <a:chExt cx="1409700" cy="1943100"/>
          </a:xfrm>
        </p:grpSpPr>
        <p:sp>
          <p:nvSpPr>
            <p:cNvPr id="15" name="Google Shape;72;p14">
              <a:extLst>
                <a:ext uri="{FF2B5EF4-FFF2-40B4-BE49-F238E27FC236}">
                  <a16:creationId xmlns:a16="http://schemas.microsoft.com/office/drawing/2014/main" id="{718258EB-79CB-87E2-8C81-F29B5572E0B5}"/>
                </a:ext>
              </a:extLst>
            </p:cNvPr>
            <p:cNvSpPr/>
            <p:nvPr/>
          </p:nvSpPr>
          <p:spPr>
            <a:xfrm>
              <a:off x="0" y="0"/>
              <a:ext cx="1409700" cy="194310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6" name="Google Shape;73;p14">
              <a:extLst>
                <a:ext uri="{FF2B5EF4-FFF2-40B4-BE49-F238E27FC236}">
                  <a16:creationId xmlns:a16="http://schemas.microsoft.com/office/drawing/2014/main" id="{AD2C5436-6F49-0A3A-9193-2D3B7024F75D}"/>
                </a:ext>
              </a:extLst>
            </p:cNvPr>
            <p:cNvSpPr/>
            <p:nvPr/>
          </p:nvSpPr>
          <p:spPr>
            <a:xfrm>
              <a:off x="0" y="0"/>
              <a:ext cx="1409700" cy="47700"/>
            </a:xfrm>
            <a:prstGeom prst="roundRect">
              <a:avLst>
                <a:gd name="adj" fmla="val 4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7" name="Google Shape;74;p14">
              <a:extLst>
                <a:ext uri="{FF2B5EF4-FFF2-40B4-BE49-F238E27FC236}">
                  <a16:creationId xmlns:a16="http://schemas.microsoft.com/office/drawing/2014/main" id="{540724E5-DCE8-5DA0-6CFB-05B0D202E4A7}"/>
                </a:ext>
              </a:extLst>
            </p:cNvPr>
            <p:cNvSpPr txBox="1"/>
            <p:nvPr/>
          </p:nvSpPr>
          <p:spPr>
            <a:xfrm>
              <a:off x="95250" y="190500"/>
              <a:ext cx="1219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78%</a:t>
              </a:r>
              <a:endParaRPr sz="2400" b="1" dirty="0">
                <a:solidFill>
                  <a:srgbClr val="1A998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8" name="Google Shape;75;p14">
              <a:extLst>
                <a:ext uri="{FF2B5EF4-FFF2-40B4-BE49-F238E27FC236}">
                  <a16:creationId xmlns:a16="http://schemas.microsoft.com/office/drawing/2014/main" id="{633956AE-03DF-B9B4-07EB-8562629EFB4B}"/>
                </a:ext>
              </a:extLst>
            </p:cNvPr>
            <p:cNvSpPr txBox="1"/>
            <p:nvPr/>
          </p:nvSpPr>
          <p:spPr>
            <a:xfrm>
              <a:off x="114300" y="723900"/>
              <a:ext cx="1181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Review Load Reduction</a:t>
              </a:r>
              <a:endParaRPr sz="95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Substantial 78% reduction in overall analyst review load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" name="Google Shape;76;p14">
            <a:extLst>
              <a:ext uri="{FF2B5EF4-FFF2-40B4-BE49-F238E27FC236}">
                <a16:creationId xmlns:a16="http://schemas.microsoft.com/office/drawing/2014/main" id="{3BE15F37-9B4F-62B2-AB8D-2599FFB35274}"/>
              </a:ext>
            </a:extLst>
          </p:cNvPr>
          <p:cNvGrpSpPr/>
          <p:nvPr/>
        </p:nvGrpSpPr>
        <p:grpSpPr>
          <a:xfrm>
            <a:off x="2226252" y="2694709"/>
            <a:ext cx="1409700" cy="1943100"/>
            <a:chOff x="0" y="0"/>
            <a:chExt cx="1409700" cy="1943100"/>
          </a:xfrm>
        </p:grpSpPr>
        <p:sp>
          <p:nvSpPr>
            <p:cNvPr id="20" name="Google Shape;77;p14">
              <a:extLst>
                <a:ext uri="{FF2B5EF4-FFF2-40B4-BE49-F238E27FC236}">
                  <a16:creationId xmlns:a16="http://schemas.microsoft.com/office/drawing/2014/main" id="{4B46E922-E80F-304D-77E4-81988A7F462B}"/>
                </a:ext>
              </a:extLst>
            </p:cNvPr>
            <p:cNvSpPr/>
            <p:nvPr/>
          </p:nvSpPr>
          <p:spPr>
            <a:xfrm>
              <a:off x="0" y="0"/>
              <a:ext cx="1409700" cy="194310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1" name="Google Shape;78;p14">
              <a:extLst>
                <a:ext uri="{FF2B5EF4-FFF2-40B4-BE49-F238E27FC236}">
                  <a16:creationId xmlns:a16="http://schemas.microsoft.com/office/drawing/2014/main" id="{C40260B1-95A4-4DEA-1708-AFB61616CEC1}"/>
                </a:ext>
              </a:extLst>
            </p:cNvPr>
            <p:cNvSpPr/>
            <p:nvPr/>
          </p:nvSpPr>
          <p:spPr>
            <a:xfrm>
              <a:off x="0" y="0"/>
              <a:ext cx="1409700" cy="47700"/>
            </a:xfrm>
            <a:prstGeom prst="roundRect">
              <a:avLst>
                <a:gd name="adj" fmla="val 40000"/>
              </a:avLst>
            </a:pr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2" name="Google Shape;79;p14">
              <a:extLst>
                <a:ext uri="{FF2B5EF4-FFF2-40B4-BE49-F238E27FC236}">
                  <a16:creationId xmlns:a16="http://schemas.microsoft.com/office/drawing/2014/main" id="{5DED5671-6FAF-7345-9509-0707AFC65362}"/>
                </a:ext>
              </a:extLst>
            </p:cNvPr>
            <p:cNvSpPr txBox="1"/>
            <p:nvPr/>
          </p:nvSpPr>
          <p:spPr>
            <a:xfrm>
              <a:off x="95250" y="190500"/>
              <a:ext cx="1219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3984F1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&lt; 2s</a:t>
              </a:r>
              <a:endParaRPr sz="2400" b="1">
                <a:solidFill>
                  <a:srgbClr val="3984F1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3" name="Google Shape;80;p14">
              <a:extLst>
                <a:ext uri="{FF2B5EF4-FFF2-40B4-BE49-F238E27FC236}">
                  <a16:creationId xmlns:a16="http://schemas.microsoft.com/office/drawing/2014/main" id="{269AB1CD-29EB-E56A-654E-428B96693A2B}"/>
                </a:ext>
              </a:extLst>
            </p:cNvPr>
            <p:cNvSpPr txBox="1"/>
            <p:nvPr/>
          </p:nvSpPr>
          <p:spPr>
            <a:xfrm>
              <a:off x="114300" y="723900"/>
              <a:ext cx="1181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Alert Latency</a:t>
              </a:r>
              <a:endParaRPr sz="95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Mean time to alert under two seconds for rapid response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" name="Google Shape;81;p14">
            <a:extLst>
              <a:ext uri="{FF2B5EF4-FFF2-40B4-BE49-F238E27FC236}">
                <a16:creationId xmlns:a16="http://schemas.microsoft.com/office/drawing/2014/main" id="{AB8156AA-5825-380C-AF0E-5409DFAFA88A}"/>
              </a:ext>
            </a:extLst>
          </p:cNvPr>
          <p:cNvGrpSpPr/>
          <p:nvPr/>
        </p:nvGrpSpPr>
        <p:grpSpPr>
          <a:xfrm>
            <a:off x="3797877" y="2694709"/>
            <a:ext cx="1409700" cy="1943100"/>
            <a:chOff x="0" y="0"/>
            <a:chExt cx="1409700" cy="1943100"/>
          </a:xfrm>
        </p:grpSpPr>
        <p:sp>
          <p:nvSpPr>
            <p:cNvPr id="25" name="Google Shape;82;p14">
              <a:extLst>
                <a:ext uri="{FF2B5EF4-FFF2-40B4-BE49-F238E27FC236}">
                  <a16:creationId xmlns:a16="http://schemas.microsoft.com/office/drawing/2014/main" id="{33CF8279-78B5-E8F5-9E9A-C65E00BDB860}"/>
                </a:ext>
              </a:extLst>
            </p:cNvPr>
            <p:cNvSpPr/>
            <p:nvPr/>
          </p:nvSpPr>
          <p:spPr>
            <a:xfrm>
              <a:off x="0" y="0"/>
              <a:ext cx="1409700" cy="194310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6" name="Google Shape;83;p14">
              <a:extLst>
                <a:ext uri="{FF2B5EF4-FFF2-40B4-BE49-F238E27FC236}">
                  <a16:creationId xmlns:a16="http://schemas.microsoft.com/office/drawing/2014/main" id="{0F8FC9DE-7D7C-DBED-26F6-40EDB8B10AA1}"/>
                </a:ext>
              </a:extLst>
            </p:cNvPr>
            <p:cNvSpPr/>
            <p:nvPr/>
          </p:nvSpPr>
          <p:spPr>
            <a:xfrm>
              <a:off x="0" y="0"/>
              <a:ext cx="1409700" cy="47700"/>
            </a:xfrm>
            <a:prstGeom prst="roundRect">
              <a:avLst>
                <a:gd name="adj" fmla="val 4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7" name="Google Shape;84;p14">
              <a:extLst>
                <a:ext uri="{FF2B5EF4-FFF2-40B4-BE49-F238E27FC236}">
                  <a16:creationId xmlns:a16="http://schemas.microsoft.com/office/drawing/2014/main" id="{A60F509B-9E01-04D3-B94A-25FBFA92155F}"/>
                </a:ext>
              </a:extLst>
            </p:cNvPr>
            <p:cNvSpPr txBox="1"/>
            <p:nvPr/>
          </p:nvSpPr>
          <p:spPr>
            <a:xfrm>
              <a:off x="95250" y="190500"/>
              <a:ext cx="1219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EB560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&lt; 8%</a:t>
              </a:r>
              <a:endParaRPr sz="2400" b="1">
                <a:solidFill>
                  <a:srgbClr val="EB5600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8" name="Google Shape;85;p14">
              <a:extLst>
                <a:ext uri="{FF2B5EF4-FFF2-40B4-BE49-F238E27FC236}">
                  <a16:creationId xmlns:a16="http://schemas.microsoft.com/office/drawing/2014/main" id="{A02B1CD0-DBC1-41CC-9DBB-389771D8F314}"/>
                </a:ext>
              </a:extLst>
            </p:cNvPr>
            <p:cNvSpPr txBox="1"/>
            <p:nvPr/>
          </p:nvSpPr>
          <p:spPr>
            <a:xfrm>
              <a:off x="114300" y="723900"/>
              <a:ext cx="1181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False Alarm Rate</a:t>
              </a:r>
              <a:endParaRPr sz="95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Maintains a false alarm rate strictly below 8%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" name="Google Shape;86;p14">
            <a:extLst>
              <a:ext uri="{FF2B5EF4-FFF2-40B4-BE49-F238E27FC236}">
                <a16:creationId xmlns:a16="http://schemas.microsoft.com/office/drawing/2014/main" id="{E0157508-B818-63F5-7D7D-6C05CD71C716}"/>
              </a:ext>
            </a:extLst>
          </p:cNvPr>
          <p:cNvGrpSpPr/>
          <p:nvPr/>
        </p:nvGrpSpPr>
        <p:grpSpPr>
          <a:xfrm>
            <a:off x="5369502" y="2694709"/>
            <a:ext cx="1409700" cy="1943100"/>
            <a:chOff x="0" y="0"/>
            <a:chExt cx="1409700" cy="1943100"/>
          </a:xfrm>
        </p:grpSpPr>
        <p:sp>
          <p:nvSpPr>
            <p:cNvPr id="30" name="Google Shape;87;p14">
              <a:extLst>
                <a:ext uri="{FF2B5EF4-FFF2-40B4-BE49-F238E27FC236}">
                  <a16:creationId xmlns:a16="http://schemas.microsoft.com/office/drawing/2014/main" id="{F8F0D012-AD67-A66E-6FAC-DB6586E3930E}"/>
                </a:ext>
              </a:extLst>
            </p:cNvPr>
            <p:cNvSpPr/>
            <p:nvPr/>
          </p:nvSpPr>
          <p:spPr>
            <a:xfrm>
              <a:off x="0" y="0"/>
              <a:ext cx="1409700" cy="194310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1" name="Google Shape;88;p14">
              <a:extLst>
                <a:ext uri="{FF2B5EF4-FFF2-40B4-BE49-F238E27FC236}">
                  <a16:creationId xmlns:a16="http://schemas.microsoft.com/office/drawing/2014/main" id="{EE5218F4-C0C0-A6C7-6480-0E38C94091E8}"/>
                </a:ext>
              </a:extLst>
            </p:cNvPr>
            <p:cNvSpPr/>
            <p:nvPr/>
          </p:nvSpPr>
          <p:spPr>
            <a:xfrm>
              <a:off x="0" y="0"/>
              <a:ext cx="1409700" cy="47700"/>
            </a:xfrm>
            <a:prstGeom prst="roundRect">
              <a:avLst>
                <a:gd name="adj" fmla="val 40000"/>
              </a:avLst>
            </a:prstGeom>
            <a:solidFill>
              <a:srgbClr val="33A6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2" name="Google Shape;89;p14">
              <a:extLst>
                <a:ext uri="{FF2B5EF4-FFF2-40B4-BE49-F238E27FC236}">
                  <a16:creationId xmlns:a16="http://schemas.microsoft.com/office/drawing/2014/main" id="{E34B648B-D5F7-69B5-0DF6-EA39A35DA8EC}"/>
                </a:ext>
              </a:extLst>
            </p:cNvPr>
            <p:cNvSpPr txBox="1"/>
            <p:nvPr/>
          </p:nvSpPr>
          <p:spPr>
            <a:xfrm>
              <a:off x="95250" y="190500"/>
              <a:ext cx="1219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33A65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&lt; 5ms</a:t>
              </a:r>
              <a:endParaRPr sz="2400" b="1">
                <a:solidFill>
                  <a:srgbClr val="33A650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3" name="Google Shape;90;p14">
              <a:extLst>
                <a:ext uri="{FF2B5EF4-FFF2-40B4-BE49-F238E27FC236}">
                  <a16:creationId xmlns:a16="http://schemas.microsoft.com/office/drawing/2014/main" id="{634F3905-2B5A-6F5B-5F1A-2C0A79B54AD5}"/>
                </a:ext>
              </a:extLst>
            </p:cNvPr>
            <p:cNvSpPr txBox="1"/>
            <p:nvPr/>
          </p:nvSpPr>
          <p:spPr>
            <a:xfrm>
              <a:off x="114300" y="723900"/>
              <a:ext cx="1181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Inference / Frame</a:t>
              </a:r>
              <a:endParaRPr sz="95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Inference cost under 5 milliseconds per frame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4" name="Google Shape;91;p14">
            <a:extLst>
              <a:ext uri="{FF2B5EF4-FFF2-40B4-BE49-F238E27FC236}">
                <a16:creationId xmlns:a16="http://schemas.microsoft.com/office/drawing/2014/main" id="{5D77B40E-CED7-20D5-8A26-6F60270D7E85}"/>
              </a:ext>
            </a:extLst>
          </p:cNvPr>
          <p:cNvGrpSpPr/>
          <p:nvPr/>
        </p:nvGrpSpPr>
        <p:grpSpPr>
          <a:xfrm>
            <a:off x="6941127" y="2694709"/>
            <a:ext cx="1409700" cy="1943100"/>
            <a:chOff x="0" y="0"/>
            <a:chExt cx="1409700" cy="1943100"/>
          </a:xfrm>
        </p:grpSpPr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65068FB1-F4A3-5637-FCF8-E0B4BE5359A3}"/>
                </a:ext>
              </a:extLst>
            </p:cNvPr>
            <p:cNvSpPr/>
            <p:nvPr/>
          </p:nvSpPr>
          <p:spPr>
            <a:xfrm>
              <a:off x="0" y="0"/>
              <a:ext cx="1409700" cy="1943100"/>
            </a:xfrm>
            <a:prstGeom prst="roundRect">
              <a:avLst>
                <a:gd name="adj" fmla="val 4054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584CAA08-C0E8-9AC9-B7F9-8C06B70BE33D}"/>
                </a:ext>
              </a:extLst>
            </p:cNvPr>
            <p:cNvSpPr/>
            <p:nvPr/>
          </p:nvSpPr>
          <p:spPr>
            <a:xfrm>
              <a:off x="0" y="0"/>
              <a:ext cx="1409700" cy="47700"/>
            </a:xfrm>
            <a:prstGeom prst="roundRect">
              <a:avLst>
                <a:gd name="adj" fmla="val 40000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7" name="Google Shape;94;p14">
              <a:extLst>
                <a:ext uri="{FF2B5EF4-FFF2-40B4-BE49-F238E27FC236}">
                  <a16:creationId xmlns:a16="http://schemas.microsoft.com/office/drawing/2014/main" id="{BAD1AFF2-FF2E-4C18-544C-D6848D2CFD20}"/>
                </a:ext>
              </a:extLst>
            </p:cNvPr>
            <p:cNvSpPr txBox="1"/>
            <p:nvPr/>
          </p:nvSpPr>
          <p:spPr>
            <a:xfrm>
              <a:off x="95250" y="190500"/>
              <a:ext cx="1219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0.6428</a:t>
              </a:r>
              <a:endParaRPr sz="22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38" name="Google Shape;95;p14">
              <a:extLst>
                <a:ext uri="{FF2B5EF4-FFF2-40B4-BE49-F238E27FC236}">
                  <a16:creationId xmlns:a16="http://schemas.microsoft.com/office/drawing/2014/main" id="{2B07C2EC-0A09-0018-D520-ED023C2543CF}"/>
                </a:ext>
              </a:extLst>
            </p:cNvPr>
            <p:cNvSpPr txBox="1"/>
            <p:nvPr/>
          </p:nvSpPr>
          <p:spPr>
            <a:xfrm>
              <a:off x="114300" y="723900"/>
              <a:ext cx="1181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AUC-ROC Score</a:t>
              </a:r>
              <a:endParaRPr sz="95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Benchmark AUC-ROC score achieved across evaluation sets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9" name="Google Shape;93;p5">
            <a:extLst>
              <a:ext uri="{FF2B5EF4-FFF2-40B4-BE49-F238E27FC236}">
                <a16:creationId xmlns:a16="http://schemas.microsoft.com/office/drawing/2014/main" id="{1B0A654F-78F9-CD8D-59FE-FC9688C32C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5977" y="556568"/>
            <a:ext cx="77040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/>
              <a:t>Objective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494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723900" y="647550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26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UCSD Pedestrian Dataset (Ped2)</a:t>
            </a:r>
            <a:endParaRPr sz="26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107" name="Google Shape;107;p15"/>
          <p:cNvGrpSpPr/>
          <p:nvPr/>
        </p:nvGrpSpPr>
        <p:grpSpPr>
          <a:xfrm>
            <a:off x="723900" y="1352550"/>
            <a:ext cx="7658250" cy="3143400"/>
            <a:chOff x="723900" y="1352550"/>
            <a:chExt cx="7658250" cy="3143400"/>
          </a:xfrm>
        </p:grpSpPr>
        <p:sp>
          <p:nvSpPr>
            <p:cNvPr id="108" name="Google Shape;108;p15"/>
            <p:cNvSpPr txBox="1"/>
            <p:nvPr/>
          </p:nvSpPr>
          <p:spPr>
            <a:xfrm>
              <a:off x="723900" y="1352550"/>
              <a:ext cx="3714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Dataset Sources &amp; Frame Volume</a:t>
              </a:r>
              <a:endParaRPr sz="16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05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Source Video: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Real outdoor CCTV surveillance footage recorded at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10 frames per second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Training Set: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16 training clips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featuring normal behavior (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2,550 normal training frames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).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Test Set: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12 test clips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containing normal behavior alongside anomalies.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90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Test Volume: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Total of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2,010 test frames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, of which </a:t>
              </a:r>
              <a:r>
                <a:rPr lang="en" sz="14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82.0%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contain anomalies (bicyclists, skaters, and carts).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4667250" y="1352550"/>
              <a:ext cx="3714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Preprocessing &amp; Evaluation Setup</a:t>
              </a:r>
              <a:endParaRPr sz="16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105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Frame Properties: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Raw grayscale video frames resized to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128x192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Learning Paradigm: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Semi-supervised approach utilizing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pixel-level ground-truth masks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for test frames.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Anomaly Threshold: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Established at the </a:t>
              </a:r>
              <a:r>
                <a:rPr lang="en" sz="14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95th percentile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of training reconstruction errors.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900"/>
                </a:spcAft>
                <a:buClr>
                  <a:srgbClr val="595959"/>
                </a:buClr>
                <a:buSzPts val="1400"/>
                <a:buFont typeface="Lato"/>
                <a:buChar char="●"/>
              </a:pPr>
              <a:r>
                <a:rPr lang="en" sz="14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Threshold Value: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Fixed precisely at </a:t>
              </a:r>
              <a:r>
                <a:rPr lang="en" sz="14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0.000734</a:t>
              </a:r>
              <a:r>
                <a:rPr lang="en" sz="14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.</a:t>
              </a:r>
              <a:endParaRPr sz="14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6"/>
          <p:cNvGrpSpPr/>
          <p:nvPr/>
        </p:nvGrpSpPr>
        <p:grpSpPr>
          <a:xfrm>
            <a:off x="668482" y="1343025"/>
            <a:ext cx="748538" cy="45600"/>
            <a:chOff x="0" y="0"/>
            <a:chExt cx="748538" cy="456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119" name="Google Shape;119;p16"/>
          <p:cNvSpPr txBox="1"/>
          <p:nvPr/>
        </p:nvSpPr>
        <p:spPr>
          <a:xfrm>
            <a:off x="668482" y="733425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24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Video Anomaly Detection Pipeline</a:t>
            </a:r>
            <a:endParaRPr sz="24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668482" y="1533525"/>
            <a:ext cx="1447800" cy="2000100"/>
            <a:chOff x="0" y="0"/>
            <a:chExt cx="1447800" cy="2000100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447800" cy="2000100"/>
            </a:xfrm>
            <a:prstGeom prst="roundRect">
              <a:avLst>
                <a:gd name="adj" fmla="val 3947"/>
              </a:avLst>
            </a:prstGeom>
            <a:solidFill>
              <a:srgbClr val="F8F9FA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2116" y="0"/>
                    <a:pt x="4737" y="0"/>
                  </a:cubicBezTo>
                  <a:lnTo>
                    <a:pt x="115263" y="0"/>
                  </a:lnTo>
                  <a:cubicBezTo>
                    <a:pt x="117884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95250" y="76200"/>
              <a:ext cx="1257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STEP 01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114300" y="438150"/>
              <a:ext cx="12192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Frame Ingestion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Ingest raw video frames continuously from the source stream.</a:t>
              </a:r>
              <a:endParaRPr sz="100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25" name="Google Shape;125;p16"/>
          <p:cNvSpPr/>
          <p:nvPr/>
        </p:nvSpPr>
        <p:spPr>
          <a:xfrm>
            <a:off x="2135332" y="2495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05000" y="60000"/>
                </a:lnTo>
                <a:moveTo>
                  <a:pt x="60000" y="0"/>
                </a:moveTo>
                <a:lnTo>
                  <a:pt x="120000" y="60000"/>
                </a:lnTo>
                <a:lnTo>
                  <a:pt x="60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1A99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grpSp>
        <p:nvGrpSpPr>
          <p:cNvPr id="126" name="Google Shape;126;p16"/>
          <p:cNvGrpSpPr/>
          <p:nvPr/>
        </p:nvGrpSpPr>
        <p:grpSpPr>
          <a:xfrm>
            <a:off x="2230582" y="1533525"/>
            <a:ext cx="1447800" cy="2000100"/>
            <a:chOff x="0" y="0"/>
            <a:chExt cx="1447800" cy="20001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447800" cy="2000100"/>
            </a:xfrm>
            <a:prstGeom prst="roundRect">
              <a:avLst>
                <a:gd name="adj" fmla="val 3947"/>
              </a:avLst>
            </a:prstGeom>
            <a:solidFill>
              <a:srgbClr val="F8F9FA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0" y="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2116" y="0"/>
                    <a:pt x="4737" y="0"/>
                  </a:cubicBezTo>
                  <a:lnTo>
                    <a:pt x="115263" y="0"/>
                  </a:lnTo>
                  <a:cubicBezTo>
                    <a:pt x="117884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3A6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95250" y="76200"/>
              <a:ext cx="1257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STEP 02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114300" y="438150"/>
              <a:ext cx="12192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Preprocessing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Extract frames as grayscale, resize to 128x192, and normalize between 0 and 1.</a:t>
              </a:r>
              <a:endParaRPr sz="100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1" name="Google Shape;131;p16"/>
          <p:cNvSpPr/>
          <p:nvPr/>
        </p:nvSpPr>
        <p:spPr>
          <a:xfrm>
            <a:off x="3697432" y="2495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05000" y="60000"/>
                </a:lnTo>
                <a:moveTo>
                  <a:pt x="60000" y="0"/>
                </a:moveTo>
                <a:lnTo>
                  <a:pt x="120000" y="60000"/>
                </a:lnTo>
                <a:lnTo>
                  <a:pt x="60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33A6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grpSp>
        <p:nvGrpSpPr>
          <p:cNvPr id="132" name="Google Shape;132;p16"/>
          <p:cNvGrpSpPr/>
          <p:nvPr/>
        </p:nvGrpSpPr>
        <p:grpSpPr>
          <a:xfrm>
            <a:off x="3792682" y="1533525"/>
            <a:ext cx="1447800" cy="2000100"/>
            <a:chOff x="0" y="0"/>
            <a:chExt cx="1447800" cy="20001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447800" cy="2000100"/>
            </a:xfrm>
            <a:prstGeom prst="roundRect">
              <a:avLst>
                <a:gd name="adj" fmla="val 3947"/>
              </a:avLst>
            </a:prstGeom>
            <a:solidFill>
              <a:srgbClr val="F8F9FA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2116" y="0"/>
                    <a:pt x="4737" y="0"/>
                  </a:cubicBezTo>
                  <a:lnTo>
                    <a:pt x="115263" y="0"/>
                  </a:lnTo>
                  <a:cubicBezTo>
                    <a:pt x="117884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95250" y="76200"/>
              <a:ext cx="1257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STEP 03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14300" y="438150"/>
              <a:ext cx="12192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ConvAE Inference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Convolutional AutoEncoder performs GPU inference to reconstruct frame.</a:t>
              </a:r>
              <a:endParaRPr sz="100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7" name="Google Shape;137;p16"/>
          <p:cNvSpPr/>
          <p:nvPr/>
        </p:nvSpPr>
        <p:spPr>
          <a:xfrm>
            <a:off x="5259532" y="2495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05000" y="60000"/>
                </a:lnTo>
                <a:moveTo>
                  <a:pt x="60000" y="0"/>
                </a:moveTo>
                <a:lnTo>
                  <a:pt x="120000" y="60000"/>
                </a:lnTo>
                <a:lnTo>
                  <a:pt x="60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3984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5354782" y="1533525"/>
            <a:ext cx="1447800" cy="2000100"/>
            <a:chOff x="0" y="0"/>
            <a:chExt cx="1447800" cy="2000100"/>
          </a:xfrm>
        </p:grpSpPr>
        <p:sp>
          <p:nvSpPr>
            <p:cNvPr id="139" name="Google Shape;139;p16"/>
            <p:cNvSpPr/>
            <p:nvPr/>
          </p:nvSpPr>
          <p:spPr>
            <a:xfrm>
              <a:off x="0" y="0"/>
              <a:ext cx="1447800" cy="2000100"/>
            </a:xfrm>
            <a:prstGeom prst="roundRect">
              <a:avLst>
                <a:gd name="adj" fmla="val 3947"/>
              </a:avLst>
            </a:prstGeom>
            <a:solidFill>
              <a:srgbClr val="F8F9FA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2116" y="0"/>
                    <a:pt x="4737" y="0"/>
                  </a:cubicBezTo>
                  <a:lnTo>
                    <a:pt x="115263" y="0"/>
                  </a:lnTo>
                  <a:cubicBezTo>
                    <a:pt x="117884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41" name="Google Shape;141;p16"/>
            <p:cNvSpPr txBox="1"/>
            <p:nvPr/>
          </p:nvSpPr>
          <p:spPr>
            <a:xfrm>
              <a:off x="95250" y="76200"/>
              <a:ext cx="1257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STEP 04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114300" y="438150"/>
              <a:ext cx="12192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MSE Calculation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Calculate pixel-wise Mean Squared Error (MSE) for the frame reconstruction.</a:t>
              </a:r>
              <a:endParaRPr sz="100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3" name="Google Shape;143;p16"/>
          <p:cNvSpPr/>
          <p:nvPr/>
        </p:nvSpPr>
        <p:spPr>
          <a:xfrm>
            <a:off x="6821632" y="2495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lnTo>
                  <a:pt x="105000" y="60000"/>
                </a:lnTo>
                <a:moveTo>
                  <a:pt x="60000" y="0"/>
                </a:moveTo>
                <a:lnTo>
                  <a:pt x="120000" y="60000"/>
                </a:lnTo>
                <a:lnTo>
                  <a:pt x="60000" y="120000"/>
                </a:lnTo>
              </a:path>
            </a:pathLst>
          </a:custGeom>
          <a:solidFill>
            <a:srgbClr val="000000">
              <a:alpha val="0"/>
            </a:srgbClr>
          </a:solidFill>
          <a:ln w="19050" cap="rnd" cmpd="sng">
            <a:solidFill>
              <a:srgbClr val="EB5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grpSp>
        <p:nvGrpSpPr>
          <p:cNvPr id="144" name="Google Shape;144;p16"/>
          <p:cNvGrpSpPr/>
          <p:nvPr/>
        </p:nvGrpSpPr>
        <p:grpSpPr>
          <a:xfrm>
            <a:off x="6916882" y="1533525"/>
            <a:ext cx="1447800" cy="2000100"/>
            <a:chOff x="0" y="0"/>
            <a:chExt cx="1447800" cy="2000100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1447800" cy="2000100"/>
            </a:xfrm>
            <a:prstGeom prst="roundRect">
              <a:avLst>
                <a:gd name="adj" fmla="val 3947"/>
              </a:avLst>
            </a:prstGeom>
            <a:solidFill>
              <a:srgbClr val="F8F9FA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0"/>
              <a:ext cx="1447800" cy="342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20000"/>
                  </a:moveTo>
                  <a:cubicBezTo>
                    <a:pt x="0" y="8933"/>
                    <a:pt x="2116" y="0"/>
                    <a:pt x="4737" y="0"/>
                  </a:cubicBezTo>
                  <a:lnTo>
                    <a:pt x="115263" y="0"/>
                  </a:lnTo>
                  <a:cubicBezTo>
                    <a:pt x="117884" y="0"/>
                    <a:pt x="120000" y="8933"/>
                    <a:pt x="120000" y="2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47" name="Google Shape;147;p16"/>
            <p:cNvSpPr txBox="1"/>
            <p:nvPr/>
          </p:nvSpPr>
          <p:spPr>
            <a:xfrm>
              <a:off x="95250" y="76200"/>
              <a:ext cx="12573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STEP 05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148" name="Google Shape;148;p16"/>
            <p:cNvSpPr txBox="1"/>
            <p:nvPr/>
          </p:nvSpPr>
          <p:spPr>
            <a:xfrm>
              <a:off x="114300" y="438150"/>
              <a:ext cx="1219200" cy="14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Threshold Flagging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90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Flag frames with MSE exceeding the 95th percentile of training errors.</a:t>
              </a:r>
              <a:endParaRPr sz="100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668482" y="3771900"/>
            <a:ext cx="7696200" cy="762000"/>
            <a:chOff x="0" y="0"/>
            <a:chExt cx="7696200" cy="7620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0"/>
              <a:ext cx="7696200" cy="762000"/>
            </a:xfrm>
            <a:prstGeom prst="roundRect">
              <a:avLst>
                <a:gd name="adj" fmla="val 7500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0"/>
              <a:ext cx="57300" cy="762000"/>
            </a:xfrm>
            <a:prstGeom prst="roundRect">
              <a:avLst>
                <a:gd name="adj" fmla="val 50000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228600" y="133350"/>
              <a:ext cx="7239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2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Core Insight</a:t>
              </a:r>
              <a:endParaRPr sz="102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en" sz="935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High reconstruction error indicates the scene deviates from the learned normal distribution, failing to reconstruct unseen anomalies.</a:t>
              </a:r>
              <a:endParaRPr sz="935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>
            <a:off x="675409" y="1370734"/>
            <a:ext cx="748538" cy="45600"/>
            <a:chOff x="0" y="0"/>
            <a:chExt cx="748538" cy="456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162" name="Google Shape;162;p17"/>
          <p:cNvSpPr txBox="1"/>
          <p:nvPr/>
        </p:nvSpPr>
        <p:spPr>
          <a:xfrm>
            <a:off x="675409" y="761134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26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Convolutional AutoEncoder Baseline</a:t>
            </a:r>
            <a:endParaRPr sz="26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163" name="Google Shape;163;p17"/>
          <p:cNvGrpSpPr/>
          <p:nvPr/>
        </p:nvGrpSpPr>
        <p:grpSpPr>
          <a:xfrm>
            <a:off x="675409" y="1532659"/>
            <a:ext cx="3714900" cy="3048000"/>
            <a:chOff x="0" y="0"/>
            <a:chExt cx="3714900" cy="3048000"/>
          </a:xfrm>
        </p:grpSpPr>
        <p:sp>
          <p:nvSpPr>
            <p:cNvPr id="164" name="Google Shape;164;p17"/>
            <p:cNvSpPr/>
            <p:nvPr/>
          </p:nvSpPr>
          <p:spPr>
            <a:xfrm>
              <a:off x="0" y="0"/>
              <a:ext cx="3714900" cy="3048000"/>
            </a:xfrm>
            <a:prstGeom prst="roundRect">
              <a:avLst>
                <a:gd name="adj" fmla="val 1250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152400" y="152400"/>
              <a:ext cx="3410100" cy="274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5" b="1" dirty="0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Architecture Specifications</a:t>
              </a:r>
              <a:endParaRPr sz="1275" b="1" dirty="0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35" b="1" dirty="0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UNSUPERVISED ONE-CLASS MODEL</a:t>
              </a:r>
              <a:endParaRPr sz="935" b="1" dirty="0">
                <a:solidFill>
                  <a:srgbClr val="1A998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8768" algn="l" rtl="0">
                <a:spcBef>
                  <a:spcPts val="750"/>
                </a:spcBef>
                <a:spcAft>
                  <a:spcPts val="0"/>
                </a:spcAft>
                <a:buClr>
                  <a:srgbClr val="595959"/>
                </a:buClr>
                <a:buSzPts val="1105"/>
                <a:buFont typeface="Lato"/>
                <a:buChar char="●"/>
              </a:pPr>
              <a:r>
                <a:rPr lang="en" sz="1105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Input Resolution:</a:t>
              </a:r>
              <a:r>
                <a:rPr lang="en" sz="110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128x192 frames</a:t>
              </a:r>
              <a:endParaRPr sz="110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8768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5"/>
                <a:buFont typeface="Lato"/>
                <a:buChar char="●"/>
              </a:pPr>
              <a:r>
                <a:rPr lang="en" sz="1105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Encoder:</a:t>
              </a:r>
              <a:r>
                <a:rPr lang="en" sz="110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4 convolutional layers using Stride-2, BatchNorm, and LeakyReLU</a:t>
              </a:r>
              <a:endParaRPr sz="110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8768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5"/>
                <a:buFont typeface="Lato"/>
                <a:buChar char="●"/>
              </a:pPr>
              <a:r>
                <a:rPr lang="en" sz="1105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Bottleneck Layer:</a:t>
              </a:r>
              <a:r>
                <a:rPr lang="en" sz="110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16x24x128 feature map</a:t>
              </a:r>
              <a:endParaRPr sz="110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8768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5"/>
                <a:buFont typeface="Lato"/>
                <a:buChar char="●"/>
              </a:pPr>
              <a:r>
                <a:rPr lang="en" sz="1105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Decoder:</a:t>
              </a:r>
              <a:r>
                <a:rPr lang="en" sz="110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Mirrored structure reconstructing the original input frame</a:t>
              </a:r>
              <a:endParaRPr sz="110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8768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105"/>
                <a:buFont typeface="Lato"/>
                <a:buChar char="●"/>
              </a:pPr>
              <a:r>
                <a:rPr lang="en" sz="1105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Total Parameters:</a:t>
              </a:r>
              <a:r>
                <a:rPr lang="en" sz="110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257,761 trainable parameters</a:t>
              </a:r>
              <a:endParaRPr sz="110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8768" algn="l" rtl="0">
                <a:spcBef>
                  <a:spcPts val="600"/>
                </a:spcBef>
                <a:spcAft>
                  <a:spcPts val="600"/>
                </a:spcAft>
                <a:buClr>
                  <a:srgbClr val="595959"/>
                </a:buClr>
                <a:buSzPts val="1105"/>
                <a:buFont typeface="Lato"/>
                <a:buChar char="●"/>
              </a:pPr>
              <a:r>
                <a:rPr lang="en" sz="1105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Loss Function:</a:t>
              </a:r>
              <a:r>
                <a:rPr lang="en" sz="110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Pixel-wise MSE loss (no anomaly labels required)</a:t>
              </a:r>
              <a:endParaRPr sz="110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4618759" y="1532659"/>
            <a:ext cx="3714900" cy="3048150"/>
            <a:chOff x="0" y="0"/>
            <a:chExt cx="3714900" cy="3048150"/>
          </a:xfrm>
        </p:grpSpPr>
        <p:sp>
          <p:nvSpPr>
            <p:cNvPr id="167" name="Google Shape;167;p17"/>
            <p:cNvSpPr/>
            <p:nvPr/>
          </p:nvSpPr>
          <p:spPr>
            <a:xfrm>
              <a:off x="0" y="0"/>
              <a:ext cx="3714900" cy="1666800"/>
            </a:xfrm>
            <a:prstGeom prst="roundRect">
              <a:avLst>
                <a:gd name="adj" fmla="val 2285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152400" y="152400"/>
              <a:ext cx="3410100" cy="13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88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Training Parameters</a:t>
              </a:r>
              <a:endParaRPr sz="1388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04959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203"/>
                <a:buFont typeface="Lato"/>
                <a:buChar char="●"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Hardware: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RTX 4050 Laptop GPU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04959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203"/>
                <a:buFont typeface="Lato"/>
                <a:buChar char="●"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Training Time: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143 seconds (30 epochs)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04959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203"/>
                <a:buFont typeface="Lato"/>
                <a:buChar char="●"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Batch Size &amp; Optimizer: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Size 64 with Adam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04959" algn="l" rtl="0">
                <a:spcBef>
                  <a:spcPts val="600"/>
                </a:spcBef>
                <a:spcAft>
                  <a:spcPts val="600"/>
                </a:spcAft>
                <a:buClr>
                  <a:srgbClr val="595959"/>
                </a:buClr>
                <a:buSzPts val="1203"/>
                <a:buFont typeface="Lato"/>
                <a:buChar char="●"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Learning Rate: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CosineAnnealingLR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0" y="1809750"/>
              <a:ext cx="3714900" cy="1238400"/>
            </a:xfrm>
            <a:prstGeom prst="roundRect">
              <a:avLst>
                <a:gd name="adj" fmla="val 3076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152400" y="1962150"/>
              <a:ext cx="3410100" cy="9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75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Modeling Rationale</a:t>
              </a:r>
              <a:endParaRPr sz="1275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10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Prioritized establishing a lightweight, domain-specific baseline before evaluating computationally expensive architectures like </a:t>
              </a:r>
              <a:r>
                <a:rPr lang="en" sz="1105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PatchCore</a:t>
              </a:r>
              <a:r>
                <a:rPr lang="en" sz="110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or </a:t>
              </a:r>
              <a:r>
                <a:rPr lang="en" sz="1105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DRAEM</a:t>
              </a:r>
              <a:r>
                <a:rPr lang="en" sz="110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.</a:t>
              </a:r>
              <a:endParaRPr sz="110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/>
        </p:nvSpPr>
        <p:spPr>
          <a:xfrm>
            <a:off x="723900" y="740352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Model Training &amp; Loss Convergence</a:t>
            </a:r>
            <a:endParaRPr sz="26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723900" y="1511877"/>
            <a:ext cx="3714900" cy="609600"/>
          </a:xfrm>
          <a:prstGeom prst="roundRect">
            <a:avLst>
              <a:gd name="adj" fmla="val 6250"/>
            </a:avLst>
          </a:prstGeom>
          <a:solidFill>
            <a:srgbClr val="E9ED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876300" y="1511877"/>
            <a:ext cx="3410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TRAINING HARDWARE &amp; TIME</a:t>
            </a:r>
            <a:endParaRPr sz="900" b="1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143 Seconds Total</a:t>
            </a:r>
            <a:r>
              <a:rPr lang="en" sz="15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 </a:t>
            </a:r>
            <a:r>
              <a:rPr lang="en" sz="1100" b="0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(RTX 4050 GPU)</a:t>
            </a:r>
            <a:endParaRPr sz="15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4705350" y="1511877"/>
            <a:ext cx="3714900" cy="609600"/>
          </a:xfrm>
          <a:prstGeom prst="roundRect">
            <a:avLst>
              <a:gd name="adj" fmla="val 6250"/>
            </a:avLst>
          </a:prstGeom>
          <a:solidFill>
            <a:srgbClr val="E9ED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4857750" y="1511877"/>
            <a:ext cx="3410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CONVERGENCE DURATION</a:t>
            </a:r>
            <a:endParaRPr sz="900" b="1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A998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30 Epochs</a:t>
            </a:r>
            <a:r>
              <a:rPr lang="en" sz="15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 </a:t>
            </a:r>
            <a:r>
              <a:rPr lang="en" sz="1100" b="0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(Rapid Stabilization)</a:t>
            </a:r>
            <a:endParaRPr sz="15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187" name="Google Shape;187;p18"/>
          <p:cNvGrpSpPr/>
          <p:nvPr/>
        </p:nvGrpSpPr>
        <p:grpSpPr>
          <a:xfrm>
            <a:off x="723900" y="2273877"/>
            <a:ext cx="1790700" cy="1285800"/>
            <a:chOff x="0" y="0"/>
            <a:chExt cx="1790700" cy="1285800"/>
          </a:xfrm>
        </p:grpSpPr>
        <p:sp>
          <p:nvSpPr>
            <p:cNvPr id="188" name="Google Shape;188;p18"/>
            <p:cNvSpPr/>
            <p:nvPr/>
          </p:nvSpPr>
          <p:spPr>
            <a:xfrm>
              <a:off x="0" y="0"/>
              <a:ext cx="1790700" cy="1285800"/>
            </a:xfrm>
            <a:prstGeom prst="roundRect">
              <a:avLst>
                <a:gd name="adj" fmla="val 4444"/>
              </a:avLst>
            </a:prstGeom>
            <a:solidFill>
              <a:srgbClr val="F4F6F7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89" name="Google Shape;189;p18"/>
            <p:cNvSpPr/>
            <p:nvPr/>
          </p:nvSpPr>
          <p:spPr>
            <a:xfrm>
              <a:off x="0" y="0"/>
              <a:ext cx="1790700" cy="57300"/>
            </a:xfrm>
            <a:prstGeom prst="roundRect">
              <a:avLst>
                <a:gd name="adj" fmla="val 5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90" name="Google Shape;190;p18"/>
            <p:cNvSpPr txBox="1"/>
            <p:nvPr/>
          </p:nvSpPr>
          <p:spPr>
            <a:xfrm>
              <a:off x="95250" y="152400"/>
              <a:ext cx="1600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595959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EPOCH 1</a:t>
              </a:r>
              <a:endParaRPr sz="1200" b="1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EB560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0.007710</a:t>
              </a:r>
              <a:endParaRPr sz="1600" b="1">
                <a:solidFill>
                  <a:srgbClr val="EB5600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Initial Loss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88888"/>
                  </a:solidFill>
                  <a:latin typeface="Old Standard TT" panose="020B0604020202020204" charset="0"/>
                </a:rPr>
                <a:t>Training Start</a:t>
              </a:r>
              <a:endParaRPr sz="900">
                <a:solidFill>
                  <a:srgbClr val="888888"/>
                </a:solidFill>
                <a:latin typeface="Old Standard TT" panose="020B0604020202020204" charset="0"/>
              </a:endParaRPr>
            </a:p>
          </p:txBody>
        </p:sp>
      </p:grpSp>
      <p:grpSp>
        <p:nvGrpSpPr>
          <p:cNvPr id="191" name="Google Shape;191;p18"/>
          <p:cNvGrpSpPr/>
          <p:nvPr/>
        </p:nvGrpSpPr>
        <p:grpSpPr>
          <a:xfrm>
            <a:off x="2695575" y="2273877"/>
            <a:ext cx="1790700" cy="1285800"/>
            <a:chOff x="0" y="0"/>
            <a:chExt cx="1790700" cy="12858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1790700" cy="1285800"/>
            </a:xfrm>
            <a:prstGeom prst="roundRect">
              <a:avLst>
                <a:gd name="adj" fmla="val 4444"/>
              </a:avLst>
            </a:prstGeom>
            <a:solidFill>
              <a:srgbClr val="F4F6F7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0" y="0"/>
              <a:ext cx="1790700" cy="57300"/>
            </a:xfrm>
            <a:prstGeom prst="roundRect">
              <a:avLst>
                <a:gd name="adj" fmla="val 5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95250" y="152400"/>
              <a:ext cx="1600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595959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EPOCH 5</a:t>
              </a:r>
              <a:endParaRPr sz="1200" b="1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0.000925</a:t>
              </a:r>
              <a:endParaRPr sz="16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Significant Drop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88888"/>
                  </a:solidFill>
                  <a:latin typeface="Old Standard TT" panose="020B0604020202020204" charset="0"/>
                </a:rPr>
                <a:t>Rapid Decline</a:t>
              </a:r>
              <a:endParaRPr sz="900">
                <a:solidFill>
                  <a:srgbClr val="888888"/>
                </a:solidFill>
                <a:latin typeface="Old Standard TT" panose="020B0604020202020204" charset="0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4667250" y="2273877"/>
            <a:ext cx="1790700" cy="1285800"/>
            <a:chOff x="0" y="0"/>
            <a:chExt cx="1790700" cy="1285800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1790700" cy="1285800"/>
            </a:xfrm>
            <a:prstGeom prst="roundRect">
              <a:avLst>
                <a:gd name="adj" fmla="val 4444"/>
              </a:avLst>
            </a:prstGeom>
            <a:solidFill>
              <a:srgbClr val="F4F6F7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97" name="Google Shape;197;p18"/>
            <p:cNvSpPr/>
            <p:nvPr/>
          </p:nvSpPr>
          <p:spPr>
            <a:xfrm>
              <a:off x="0" y="0"/>
              <a:ext cx="1790700" cy="57300"/>
            </a:xfrm>
            <a:prstGeom prst="roundRect">
              <a:avLst>
                <a:gd name="adj" fmla="val 5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95250" y="152400"/>
              <a:ext cx="1600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595959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EPOCH 15</a:t>
              </a:r>
              <a:endParaRPr sz="1200" b="1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0.000447</a:t>
              </a:r>
              <a:endParaRPr sz="16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Continued Loss Reduction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888888"/>
                  </a:solidFill>
                  <a:latin typeface="Old Standard TT" panose="020B0604020202020204" charset="0"/>
                </a:rPr>
                <a:t>Fine-Tuning</a:t>
              </a:r>
              <a:endParaRPr sz="900">
                <a:solidFill>
                  <a:srgbClr val="888888"/>
                </a:solidFill>
                <a:latin typeface="Old Standard TT" panose="020B0604020202020204" charset="0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6629400" y="2273877"/>
            <a:ext cx="1790700" cy="1285800"/>
            <a:chOff x="0" y="0"/>
            <a:chExt cx="1790700" cy="1285800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1790700" cy="1285800"/>
            </a:xfrm>
            <a:prstGeom prst="roundRect">
              <a:avLst>
                <a:gd name="adj" fmla="val 4444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95250" y="152400"/>
              <a:ext cx="1600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EPOCH 30</a:t>
              </a:r>
              <a:endParaRPr sz="12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0.000367</a:t>
              </a:r>
              <a:endParaRPr sz="16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E9EDEE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Stabilized Loss</a:t>
              </a:r>
              <a:endParaRPr sz="1000" b="0">
                <a:solidFill>
                  <a:srgbClr val="E9EDEE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D0E0E3"/>
                  </a:solidFill>
                  <a:latin typeface="Old Standard TT" panose="020B0604020202020204" charset="0"/>
                </a:rPr>
                <a:t>FINAL BASELINE</a:t>
              </a:r>
              <a:endParaRPr sz="900" b="1">
                <a:solidFill>
                  <a:srgbClr val="D0E0E3"/>
                </a:solidFill>
                <a:latin typeface="Old Standard TT" panose="020B0604020202020204" charset="0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723900" y="3750252"/>
            <a:ext cx="7696200" cy="809700"/>
            <a:chOff x="0" y="0"/>
            <a:chExt cx="7696200" cy="809700"/>
          </a:xfrm>
        </p:grpSpPr>
        <p:sp>
          <p:nvSpPr>
            <p:cNvPr id="203" name="Google Shape;203;p18"/>
            <p:cNvSpPr/>
            <p:nvPr/>
          </p:nvSpPr>
          <p:spPr>
            <a:xfrm>
              <a:off x="0" y="0"/>
              <a:ext cx="7696200" cy="809700"/>
            </a:xfrm>
            <a:prstGeom prst="roundRect">
              <a:avLst>
                <a:gd name="adj" fmla="val 7058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0" y="0"/>
              <a:ext cx="57300" cy="809700"/>
            </a:xfrm>
            <a:prstGeom prst="roundRect">
              <a:avLst>
                <a:gd name="adj" fmla="val 50000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228600" y="114300"/>
              <a:ext cx="72390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RECONSTRUCTION OUTCOME</a:t>
              </a:r>
              <a:endParaRPr sz="1018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64" b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As a result of this training process, the model successfully learns to reconstruct normal pedestrian walkway scenes with a highly consistent Mean Squared Error of approximately </a:t>
              </a:r>
              <a:r>
                <a:rPr lang="en" sz="1064" b="1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0.000367</a:t>
              </a:r>
              <a:r>
                <a:rPr lang="en" sz="1064" b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, establishing a strong baseline for normal behavior.</a:t>
              </a:r>
              <a:endParaRPr sz="1064" b="0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9"/>
          <p:cNvGrpSpPr/>
          <p:nvPr/>
        </p:nvGrpSpPr>
        <p:grpSpPr>
          <a:xfrm>
            <a:off x="703742" y="1068825"/>
            <a:ext cx="748538" cy="45600"/>
            <a:chOff x="0" y="0"/>
            <a:chExt cx="748538" cy="45600"/>
          </a:xfrm>
        </p:grpSpPr>
        <p:sp>
          <p:nvSpPr>
            <p:cNvPr id="213" name="Google Shape;213;p19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14" name="Google Shape;214;p19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215" name="Google Shape;215;p19"/>
          <p:cNvSpPr txBox="1"/>
          <p:nvPr/>
        </p:nvSpPr>
        <p:spPr>
          <a:xfrm>
            <a:off x="723900" y="645675"/>
            <a:ext cx="7686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20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Visual &amp; Pixel-Wise Error Heatmap Analysis</a:t>
            </a:r>
            <a:endParaRPr sz="20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216" name="Google Shape;216;p19"/>
          <p:cNvGrpSpPr/>
          <p:nvPr/>
        </p:nvGrpSpPr>
        <p:grpSpPr>
          <a:xfrm>
            <a:off x="723900" y="1219200"/>
            <a:ext cx="7696350" cy="228600"/>
            <a:chOff x="723900" y="1219200"/>
            <a:chExt cx="7696350" cy="228600"/>
          </a:xfrm>
        </p:grpSpPr>
        <p:sp>
          <p:nvSpPr>
            <p:cNvPr id="217" name="Google Shape;217;p19"/>
            <p:cNvSpPr txBox="1"/>
            <p:nvPr/>
          </p:nvSpPr>
          <p:spPr>
            <a:xfrm>
              <a:off x="723900" y="121920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1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1. Raw Input Frame</a:t>
              </a:r>
              <a:endParaRPr sz="11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3381375" y="121920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1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2. ConvAE Reconstruction</a:t>
              </a:r>
              <a:endParaRPr sz="11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19" name="Google Shape;219;p19"/>
            <p:cNvSpPr txBox="1"/>
            <p:nvPr/>
          </p:nvSpPr>
          <p:spPr>
            <a:xfrm>
              <a:off x="6038850" y="1219200"/>
              <a:ext cx="238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1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3. Pixel-wise Error Heatmap</a:t>
              </a:r>
              <a:endParaRPr sz="11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20" name="Google Shape;220;p19"/>
          <p:cNvGrpSpPr/>
          <p:nvPr/>
        </p:nvGrpSpPr>
        <p:grpSpPr>
          <a:xfrm>
            <a:off x="723900" y="1457325"/>
            <a:ext cx="7696350" cy="1419375"/>
            <a:chOff x="723900" y="1457325"/>
            <a:chExt cx="7696350" cy="1419375"/>
          </a:xfrm>
        </p:grpSpPr>
        <p:sp>
          <p:nvSpPr>
            <p:cNvPr id="221" name="Google Shape;221;p19"/>
            <p:cNvSpPr/>
            <p:nvPr/>
          </p:nvSpPr>
          <p:spPr>
            <a:xfrm>
              <a:off x="723900" y="1457325"/>
              <a:ext cx="1095300" cy="171600"/>
            </a:xfrm>
            <a:prstGeom prst="roundRect">
              <a:avLst>
                <a:gd name="adj" fmla="val 16666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22" name="Google Shape;222;p19"/>
            <p:cNvSpPr txBox="1"/>
            <p:nvPr/>
          </p:nvSpPr>
          <p:spPr>
            <a:xfrm>
              <a:off x="723900" y="1583205"/>
              <a:ext cx="1095300" cy="457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850" b="1" dirty="0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NORMAL FRAME</a:t>
              </a:r>
              <a:endParaRPr sz="850" b="1" dirty="0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23" name="Google Shape;223;p19"/>
            <p:cNvGrpSpPr/>
            <p:nvPr/>
          </p:nvGrpSpPr>
          <p:grpSpPr>
            <a:xfrm>
              <a:off x="723900" y="1666875"/>
              <a:ext cx="2381400" cy="952500"/>
              <a:chOff x="723900" y="1666875"/>
              <a:chExt cx="2381400" cy="952500"/>
            </a:xfrm>
          </p:grpSpPr>
          <p:sp>
            <p:nvSpPr>
              <p:cNvPr id="224" name="Google Shape;224;p19"/>
              <p:cNvSpPr/>
              <p:nvPr/>
            </p:nvSpPr>
            <p:spPr>
              <a:xfrm>
                <a:off x="723900" y="1666875"/>
                <a:ext cx="23814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25" name="Google Shape;225;p19"/>
              <p:cNvSpPr/>
              <p:nvPr/>
            </p:nvSpPr>
            <p:spPr>
              <a:xfrm>
                <a:off x="857250" y="2000250"/>
                <a:ext cx="209550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8182" y="0"/>
                    </a:lnTo>
                    <a:lnTo>
                      <a:pt x="70909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26" name="Google Shape;226;p19"/>
              <p:cNvSpPr/>
              <p:nvPr/>
            </p:nvSpPr>
            <p:spPr>
              <a:xfrm>
                <a:off x="1724025" y="2038350"/>
                <a:ext cx="76200" cy="762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27" name="Google Shape;227;p19"/>
              <p:cNvSpPr/>
              <p:nvPr/>
            </p:nvSpPr>
            <p:spPr>
              <a:xfrm>
                <a:off x="1695450" y="2114550"/>
                <a:ext cx="133500" cy="247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60000" y="0"/>
                    </a:moveTo>
                    <a:lnTo>
                      <a:pt x="60000" y="73846"/>
                    </a:lnTo>
                    <a:moveTo>
                      <a:pt x="60000" y="27692"/>
                    </a:moveTo>
                    <a:lnTo>
                      <a:pt x="0" y="55385"/>
                    </a:lnTo>
                    <a:moveTo>
                      <a:pt x="60000" y="27692"/>
                    </a:moveTo>
                    <a:lnTo>
                      <a:pt x="120000" y="55385"/>
                    </a:lnTo>
                    <a:moveTo>
                      <a:pt x="60000" y="73846"/>
                    </a:moveTo>
                    <a:lnTo>
                      <a:pt x="17143" y="120000"/>
                    </a:lnTo>
                    <a:moveTo>
                      <a:pt x="60000" y="73846"/>
                    </a:moveTo>
                    <a:lnTo>
                      <a:pt x="102857" y="120000"/>
                    </a:lnTo>
                  </a:path>
                </a:pathLst>
              </a:custGeom>
              <a:solidFill>
                <a:srgbClr val="FFFFFF"/>
              </a:solidFill>
              <a:ln w="19050" cap="rnd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28" name="Google Shape;228;p19"/>
              <p:cNvSpPr txBox="1"/>
              <p:nvPr/>
            </p:nvSpPr>
            <p:spPr>
              <a:xfrm>
                <a:off x="800100" y="1724025"/>
                <a:ext cx="952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94A3B8"/>
                    </a:solidFill>
                    <a:latin typeface="Old Standard TT" panose="020B0604020202020204" charset="0"/>
                    <a:sym typeface="Arial"/>
                  </a:rPr>
                  <a:t>FRAME #0241</a:t>
                </a:r>
                <a:endParaRPr sz="750">
                  <a:solidFill>
                    <a:srgbClr val="94A3B8"/>
                  </a:solidFill>
                  <a:latin typeface="Old Standard TT" panose="020B0604020202020204" charset="0"/>
                  <a:sym typeface="Arial"/>
                </a:endParaRPr>
              </a:p>
            </p:txBody>
          </p:sp>
        </p:grpSp>
        <p:grpSp>
          <p:nvGrpSpPr>
            <p:cNvPr id="229" name="Google Shape;229;p19"/>
            <p:cNvGrpSpPr/>
            <p:nvPr/>
          </p:nvGrpSpPr>
          <p:grpSpPr>
            <a:xfrm>
              <a:off x="3381375" y="1666875"/>
              <a:ext cx="2381400" cy="952500"/>
              <a:chOff x="3381375" y="1666875"/>
              <a:chExt cx="2381400" cy="952500"/>
            </a:xfrm>
          </p:grpSpPr>
          <p:sp>
            <p:nvSpPr>
              <p:cNvPr id="230" name="Google Shape;230;p19"/>
              <p:cNvSpPr/>
              <p:nvPr/>
            </p:nvSpPr>
            <p:spPr>
              <a:xfrm>
                <a:off x="3381375" y="1666875"/>
                <a:ext cx="23814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1" name="Google Shape;231;p19"/>
              <p:cNvSpPr/>
              <p:nvPr/>
            </p:nvSpPr>
            <p:spPr>
              <a:xfrm>
                <a:off x="3514725" y="2000250"/>
                <a:ext cx="209550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8182" y="0"/>
                    </a:lnTo>
                    <a:lnTo>
                      <a:pt x="70909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2" name="Google Shape;232;p19"/>
              <p:cNvSpPr/>
              <p:nvPr/>
            </p:nvSpPr>
            <p:spPr>
              <a:xfrm>
                <a:off x="4381500" y="2038350"/>
                <a:ext cx="76200" cy="762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3" name="Google Shape;233;p19"/>
              <p:cNvSpPr/>
              <p:nvPr/>
            </p:nvSpPr>
            <p:spPr>
              <a:xfrm>
                <a:off x="4352925" y="2114550"/>
                <a:ext cx="133500" cy="247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60000" y="0"/>
                    </a:moveTo>
                    <a:lnTo>
                      <a:pt x="60000" y="73846"/>
                    </a:lnTo>
                    <a:moveTo>
                      <a:pt x="60000" y="27692"/>
                    </a:moveTo>
                    <a:lnTo>
                      <a:pt x="0" y="55385"/>
                    </a:lnTo>
                    <a:moveTo>
                      <a:pt x="60000" y="27692"/>
                    </a:moveTo>
                    <a:lnTo>
                      <a:pt x="120000" y="55385"/>
                    </a:lnTo>
                    <a:moveTo>
                      <a:pt x="60000" y="73846"/>
                    </a:moveTo>
                    <a:lnTo>
                      <a:pt x="17143" y="120000"/>
                    </a:lnTo>
                    <a:moveTo>
                      <a:pt x="60000" y="73846"/>
                    </a:moveTo>
                    <a:lnTo>
                      <a:pt x="102857" y="120000"/>
                    </a:lnTo>
                  </a:path>
                </a:pathLst>
              </a:custGeom>
              <a:solidFill>
                <a:srgbClr val="FFFFFF"/>
              </a:solidFill>
              <a:ln w="19050" cap="rnd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4" name="Google Shape;234;p19"/>
              <p:cNvSpPr/>
              <p:nvPr/>
            </p:nvSpPr>
            <p:spPr>
              <a:xfrm>
                <a:off x="5000625" y="1724025"/>
                <a:ext cx="6858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33A6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5" name="Google Shape;235;p19"/>
              <p:cNvSpPr txBox="1"/>
              <p:nvPr/>
            </p:nvSpPr>
            <p:spPr>
              <a:xfrm>
                <a:off x="5000625" y="1830705"/>
                <a:ext cx="685800" cy="45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700" b="1" dirty="0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ACCURATE</a:t>
                </a:r>
                <a:endParaRPr sz="700" b="1" dirty="0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36" name="Google Shape;236;p19"/>
            <p:cNvGrpSpPr/>
            <p:nvPr/>
          </p:nvGrpSpPr>
          <p:grpSpPr>
            <a:xfrm>
              <a:off x="6038850" y="1666875"/>
              <a:ext cx="2381400" cy="952500"/>
              <a:chOff x="6038850" y="1666875"/>
              <a:chExt cx="2381400" cy="952500"/>
            </a:xfrm>
          </p:grpSpPr>
          <p:sp>
            <p:nvSpPr>
              <p:cNvPr id="237" name="Google Shape;237;p19"/>
              <p:cNvSpPr/>
              <p:nvPr/>
            </p:nvSpPr>
            <p:spPr>
              <a:xfrm>
                <a:off x="6038850" y="1666875"/>
                <a:ext cx="23814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8" name="Google Shape;238;p19"/>
              <p:cNvSpPr/>
              <p:nvPr/>
            </p:nvSpPr>
            <p:spPr>
              <a:xfrm>
                <a:off x="6172200" y="2000250"/>
                <a:ext cx="209550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8182" y="0"/>
                    </a:lnTo>
                    <a:lnTo>
                      <a:pt x="70909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E29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39" name="Google Shape;239;p19"/>
              <p:cNvSpPr/>
              <p:nvPr/>
            </p:nvSpPr>
            <p:spPr>
              <a:xfrm>
                <a:off x="6934200" y="2076450"/>
                <a:ext cx="285900" cy="285900"/>
              </a:xfrm>
              <a:prstGeom prst="ellipse">
                <a:avLst/>
              </a:prstGeom>
              <a:solidFill>
                <a:srgbClr val="1E3A8A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40" name="Google Shape;240;p19"/>
              <p:cNvSpPr/>
              <p:nvPr/>
            </p:nvSpPr>
            <p:spPr>
              <a:xfrm>
                <a:off x="7410450" y="1724025"/>
                <a:ext cx="9336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1A998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41" name="Google Shape;241;p19"/>
              <p:cNvSpPr txBox="1"/>
              <p:nvPr/>
            </p:nvSpPr>
            <p:spPr>
              <a:xfrm>
                <a:off x="7410450" y="1800299"/>
                <a:ext cx="933600" cy="7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595" b="1" dirty="0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LOW / UNIFORM ERROR</a:t>
                </a:r>
                <a:endParaRPr sz="595" b="1" dirty="0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19"/>
              <p:cNvSpPr txBox="1"/>
              <p:nvPr/>
            </p:nvSpPr>
            <p:spPr>
              <a:xfrm>
                <a:off x="6115050" y="2400300"/>
                <a:ext cx="2229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34D399"/>
                    </a:solidFill>
                    <a:latin typeface="Old Standard TT" panose="020B0604020202020204" charset="0"/>
                    <a:sym typeface="Arial"/>
                  </a:rPr>
                  <a:t>MSE Score: 0.012 (Below Threshold)</a:t>
                </a:r>
                <a:endParaRPr sz="850" b="1">
                  <a:solidFill>
                    <a:srgbClr val="34D399"/>
                  </a:solidFill>
                  <a:latin typeface="Old Standard TT" panose="020B0604020202020204" charset="0"/>
                  <a:sym typeface="Arial"/>
                </a:endParaRPr>
              </a:p>
            </p:txBody>
          </p:sp>
        </p:grpSp>
        <p:sp>
          <p:nvSpPr>
            <p:cNvPr id="243" name="Google Shape;243;p19"/>
            <p:cNvSpPr txBox="1"/>
            <p:nvPr/>
          </p:nvSpPr>
          <p:spPr>
            <a:xfrm>
              <a:off x="723900" y="2667000"/>
              <a:ext cx="76962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971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For </a:t>
              </a:r>
              <a:r>
                <a:rPr lang="en" sz="971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normal frames</a:t>
              </a:r>
              <a:r>
                <a:rPr lang="en" sz="971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, the reconstruction is nearly identical to the original, resulting in a low, uniform error distribution across the heatmap.</a:t>
              </a:r>
              <a:endParaRPr sz="971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244" name="Google Shape;244;p19"/>
          <p:cNvCxnSpPr/>
          <p:nvPr/>
        </p:nvCxnSpPr>
        <p:spPr>
          <a:xfrm>
            <a:off x="723900" y="2943225"/>
            <a:ext cx="7696200" cy="0"/>
          </a:xfrm>
          <a:prstGeom prst="straightConnector1">
            <a:avLst/>
          </a:prstGeom>
          <a:solidFill>
            <a:srgbClr val="FFFFFF"/>
          </a:solidFill>
          <a:ln w="14300" cap="flat" cmpd="sng">
            <a:solidFill>
              <a:srgbClr val="E9EDEE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5" name="Google Shape;245;p19"/>
          <p:cNvGrpSpPr/>
          <p:nvPr/>
        </p:nvGrpSpPr>
        <p:grpSpPr>
          <a:xfrm>
            <a:off x="723900" y="3067050"/>
            <a:ext cx="7696350" cy="1419375"/>
            <a:chOff x="723900" y="3067050"/>
            <a:chExt cx="7696350" cy="1419375"/>
          </a:xfrm>
        </p:grpSpPr>
        <p:sp>
          <p:nvSpPr>
            <p:cNvPr id="246" name="Google Shape;246;p19"/>
            <p:cNvSpPr/>
            <p:nvPr/>
          </p:nvSpPr>
          <p:spPr>
            <a:xfrm>
              <a:off x="723900" y="3067050"/>
              <a:ext cx="1190700" cy="171600"/>
            </a:xfrm>
            <a:prstGeom prst="roundRect">
              <a:avLst>
                <a:gd name="adj" fmla="val 16666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723900" y="3181274"/>
              <a:ext cx="1190700" cy="57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850" b="1" dirty="0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ANOMALY FRAME</a:t>
              </a:r>
              <a:endParaRPr sz="850" b="1" dirty="0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48" name="Google Shape;248;p19"/>
            <p:cNvGrpSpPr/>
            <p:nvPr/>
          </p:nvGrpSpPr>
          <p:grpSpPr>
            <a:xfrm>
              <a:off x="723900" y="3276600"/>
              <a:ext cx="2381400" cy="952500"/>
              <a:chOff x="723900" y="3276600"/>
              <a:chExt cx="2381400" cy="952500"/>
            </a:xfrm>
          </p:grpSpPr>
          <p:sp>
            <p:nvSpPr>
              <p:cNvPr id="249" name="Google Shape;249;p19"/>
              <p:cNvSpPr/>
              <p:nvPr/>
            </p:nvSpPr>
            <p:spPr>
              <a:xfrm>
                <a:off x="723900" y="3276600"/>
                <a:ext cx="23814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50" name="Google Shape;250;p19"/>
              <p:cNvSpPr/>
              <p:nvPr/>
            </p:nvSpPr>
            <p:spPr>
              <a:xfrm>
                <a:off x="857250" y="3609975"/>
                <a:ext cx="209550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8182" y="0"/>
                    </a:lnTo>
                    <a:lnTo>
                      <a:pt x="70909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51" name="Google Shape;251;p19"/>
              <p:cNvSpPr/>
              <p:nvPr/>
            </p:nvSpPr>
            <p:spPr>
              <a:xfrm>
                <a:off x="1390650" y="3648075"/>
                <a:ext cx="76200" cy="762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52" name="Google Shape;252;p19"/>
              <p:cNvSpPr/>
              <p:nvPr/>
            </p:nvSpPr>
            <p:spPr>
              <a:xfrm>
                <a:off x="1362075" y="3724275"/>
                <a:ext cx="133500" cy="247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60000" y="0"/>
                    </a:moveTo>
                    <a:lnTo>
                      <a:pt x="60000" y="73846"/>
                    </a:lnTo>
                    <a:moveTo>
                      <a:pt x="60000" y="27692"/>
                    </a:moveTo>
                    <a:lnTo>
                      <a:pt x="0" y="55385"/>
                    </a:lnTo>
                    <a:moveTo>
                      <a:pt x="60000" y="27692"/>
                    </a:moveTo>
                    <a:lnTo>
                      <a:pt x="120000" y="55385"/>
                    </a:lnTo>
                    <a:moveTo>
                      <a:pt x="60000" y="73846"/>
                    </a:moveTo>
                    <a:lnTo>
                      <a:pt x="17143" y="120000"/>
                    </a:lnTo>
                    <a:moveTo>
                      <a:pt x="60000" y="73846"/>
                    </a:moveTo>
                    <a:lnTo>
                      <a:pt x="102857" y="120000"/>
                    </a:lnTo>
                  </a:path>
                </a:pathLst>
              </a:custGeom>
              <a:solidFill>
                <a:srgbClr val="FFFFFF"/>
              </a:solidFill>
              <a:ln w="19050" cap="rnd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grpSp>
            <p:nvGrpSpPr>
              <p:cNvPr id="253" name="Google Shape;253;p19"/>
              <p:cNvGrpSpPr/>
              <p:nvPr/>
            </p:nvGrpSpPr>
            <p:grpSpPr>
              <a:xfrm>
                <a:off x="2209800" y="3657600"/>
                <a:ext cx="495300" cy="352575"/>
                <a:chOff x="2209800" y="3657600"/>
                <a:chExt cx="495300" cy="352575"/>
              </a:xfrm>
            </p:grpSpPr>
            <p:sp>
              <p:nvSpPr>
                <p:cNvPr id="254" name="Google Shape;254;p19"/>
                <p:cNvSpPr/>
                <p:nvPr/>
              </p:nvSpPr>
              <p:spPr>
                <a:xfrm>
                  <a:off x="2247900" y="3838575"/>
                  <a:ext cx="171600" cy="1716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w="19050" cap="flat" cmpd="sng">
                  <a:solidFill>
                    <a:srgbClr val="EB5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ld Standard TT" panose="020B0604020202020204" charset="0"/>
                  </a:endParaRPr>
                </a:p>
              </p:txBody>
            </p:sp>
            <p:sp>
              <p:nvSpPr>
                <p:cNvPr id="255" name="Google Shape;255;p19"/>
                <p:cNvSpPr/>
                <p:nvPr/>
              </p:nvSpPr>
              <p:spPr>
                <a:xfrm>
                  <a:off x="2486025" y="3838575"/>
                  <a:ext cx="171600" cy="171600"/>
                </a:xfrm>
                <a:prstGeom prst="ellipse">
                  <a:avLst/>
                </a:prstGeom>
                <a:solidFill>
                  <a:srgbClr val="000000">
                    <a:alpha val="0"/>
                  </a:srgbClr>
                </a:solidFill>
                <a:ln w="19050" cap="flat" cmpd="sng">
                  <a:solidFill>
                    <a:srgbClr val="EB5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ld Standard TT" panose="020B0604020202020204" charset="0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2333625" y="3790950"/>
                  <a:ext cx="238200" cy="13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00" h="120000" extrusionOk="0">
                      <a:moveTo>
                        <a:pt x="0" y="120000"/>
                      </a:moveTo>
                      <a:lnTo>
                        <a:pt x="48000" y="0"/>
                      </a:lnTo>
                      <a:lnTo>
                        <a:pt x="96000" y="0"/>
                      </a:lnTo>
                      <a:lnTo>
                        <a:pt x="120000" y="120000"/>
                      </a:lnTo>
                      <a:moveTo>
                        <a:pt x="48000" y="0"/>
                      </a:moveTo>
                      <a:lnTo>
                        <a:pt x="72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7150" cap="flat" cmpd="sng">
                  <a:solidFill>
                    <a:srgbClr val="EB56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ld Standard TT" panose="020B0604020202020204" charset="0"/>
                  </a:endParaRPr>
                </a:p>
              </p:txBody>
            </p:sp>
            <p:sp>
              <p:nvSpPr>
                <p:cNvPr id="257" name="Google Shape;257;p19"/>
                <p:cNvSpPr/>
                <p:nvPr/>
              </p:nvSpPr>
              <p:spPr>
                <a:xfrm>
                  <a:off x="2209800" y="3657600"/>
                  <a:ext cx="495300" cy="133500"/>
                </a:xfrm>
                <a:prstGeom prst="roundRect">
                  <a:avLst>
                    <a:gd name="adj" fmla="val 14285"/>
                  </a:avLst>
                </a:prstGeom>
                <a:solidFill>
                  <a:srgbClr val="EB5600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Old Standard TT" panose="020B0604020202020204" charset="0"/>
                  </a:endParaRPr>
                </a:p>
              </p:txBody>
            </p:sp>
            <p:sp>
              <p:nvSpPr>
                <p:cNvPr id="258" name="Google Shape;258;p19"/>
                <p:cNvSpPr txBox="1"/>
                <p:nvPr/>
              </p:nvSpPr>
              <p:spPr>
                <a:xfrm>
                  <a:off x="2209800" y="3657600"/>
                  <a:ext cx="495300" cy="1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900"/>
                    </a:spcAft>
                    <a:buNone/>
                  </a:pPr>
                  <a:r>
                    <a:rPr lang="en" sz="650" b="1">
                      <a:solidFill>
                        <a:srgbClr val="FFFFFF"/>
                      </a:solidFill>
                      <a:latin typeface="Old Standard TT" panose="020B0604020202020204" charset="0"/>
                      <a:sym typeface="Arial"/>
                    </a:rPr>
                    <a:t>BICYCLE</a:t>
                  </a:r>
                  <a:endParaRPr sz="650" b="1">
                    <a:solidFill>
                      <a:srgbClr val="FFFFFF"/>
                    </a:solidFill>
                    <a:latin typeface="Old Standard TT" panose="020B0604020202020204" charset="0"/>
                    <a:sym typeface="Arial"/>
                  </a:endParaRPr>
                </a:p>
              </p:txBody>
            </p:sp>
          </p:grpSp>
          <p:sp>
            <p:nvSpPr>
              <p:cNvPr id="259" name="Google Shape;259;p19"/>
              <p:cNvSpPr txBox="1"/>
              <p:nvPr/>
            </p:nvSpPr>
            <p:spPr>
              <a:xfrm>
                <a:off x="800100" y="3333750"/>
                <a:ext cx="95250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50">
                    <a:solidFill>
                      <a:srgbClr val="94A3B8"/>
                    </a:solidFill>
                    <a:latin typeface="Old Standard TT" panose="020B0604020202020204" charset="0"/>
                    <a:sym typeface="Arial"/>
                  </a:rPr>
                  <a:t>FRAME #0582</a:t>
                </a:r>
                <a:endParaRPr sz="750">
                  <a:solidFill>
                    <a:srgbClr val="94A3B8"/>
                  </a:solidFill>
                  <a:latin typeface="Old Standard TT" panose="020B0604020202020204" charset="0"/>
                  <a:sym typeface="Arial"/>
                </a:endParaRPr>
              </a:p>
            </p:txBody>
          </p:sp>
        </p:grpSp>
        <p:grpSp>
          <p:nvGrpSpPr>
            <p:cNvPr id="260" name="Google Shape;260;p19"/>
            <p:cNvGrpSpPr/>
            <p:nvPr/>
          </p:nvGrpSpPr>
          <p:grpSpPr>
            <a:xfrm>
              <a:off x="3381375" y="3276600"/>
              <a:ext cx="2381400" cy="952500"/>
              <a:chOff x="3381375" y="3276600"/>
              <a:chExt cx="2381400" cy="952500"/>
            </a:xfrm>
          </p:grpSpPr>
          <p:sp>
            <p:nvSpPr>
              <p:cNvPr id="261" name="Google Shape;261;p19"/>
              <p:cNvSpPr/>
              <p:nvPr/>
            </p:nvSpPr>
            <p:spPr>
              <a:xfrm>
                <a:off x="3381375" y="3276600"/>
                <a:ext cx="23814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62" name="Google Shape;262;p19"/>
              <p:cNvSpPr/>
              <p:nvPr/>
            </p:nvSpPr>
            <p:spPr>
              <a:xfrm>
                <a:off x="3514725" y="3609975"/>
                <a:ext cx="209550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8182" y="0"/>
                    </a:lnTo>
                    <a:lnTo>
                      <a:pt x="70909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4300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63" name="Google Shape;263;p19"/>
              <p:cNvSpPr/>
              <p:nvPr/>
            </p:nvSpPr>
            <p:spPr>
              <a:xfrm>
                <a:off x="4048125" y="3648075"/>
                <a:ext cx="76200" cy="76200"/>
              </a:xfrm>
              <a:prstGeom prst="ellipse">
                <a:avLst/>
              </a:prstGeom>
              <a:solidFill>
                <a:srgbClr val="38BDF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64" name="Google Shape;264;p19"/>
              <p:cNvSpPr/>
              <p:nvPr/>
            </p:nvSpPr>
            <p:spPr>
              <a:xfrm>
                <a:off x="4019550" y="3724275"/>
                <a:ext cx="133500" cy="247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60000" y="0"/>
                    </a:moveTo>
                    <a:lnTo>
                      <a:pt x="60000" y="73846"/>
                    </a:lnTo>
                    <a:moveTo>
                      <a:pt x="60000" y="27692"/>
                    </a:moveTo>
                    <a:lnTo>
                      <a:pt x="0" y="55385"/>
                    </a:lnTo>
                    <a:moveTo>
                      <a:pt x="60000" y="27692"/>
                    </a:moveTo>
                    <a:lnTo>
                      <a:pt x="120000" y="55385"/>
                    </a:lnTo>
                    <a:moveTo>
                      <a:pt x="60000" y="73846"/>
                    </a:moveTo>
                    <a:lnTo>
                      <a:pt x="17143" y="120000"/>
                    </a:lnTo>
                    <a:moveTo>
                      <a:pt x="60000" y="73846"/>
                    </a:moveTo>
                    <a:lnTo>
                      <a:pt x="102857" y="120000"/>
                    </a:lnTo>
                  </a:path>
                </a:pathLst>
              </a:custGeom>
              <a:solidFill>
                <a:srgbClr val="FFFFFF"/>
              </a:solidFill>
              <a:ln w="19050" cap="rnd" cmpd="sng">
                <a:solidFill>
                  <a:srgbClr val="38BD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pic>
            <p:nvPicPr>
              <p:cNvPr id="265" name="Google Shape;265;p1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852988" y="3690938"/>
                <a:ext cx="504900" cy="314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6" name="Google Shape;266;p19"/>
              <p:cNvSpPr txBox="1"/>
              <p:nvPr/>
            </p:nvSpPr>
            <p:spPr>
              <a:xfrm>
                <a:off x="4857750" y="3695700"/>
                <a:ext cx="495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700">
                    <a:solidFill>
                      <a:srgbClr val="94A3B8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Unseen</a:t>
                </a:r>
                <a:br>
                  <a:rPr lang="en" sz="700">
                    <a:solidFill>
                      <a:srgbClr val="94A3B8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</a:br>
                <a:r>
                  <a:rPr lang="en" sz="700">
                    <a:solidFill>
                      <a:srgbClr val="94A3B8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Blur</a:t>
                </a:r>
                <a:endParaRPr sz="700">
                  <a:solidFill>
                    <a:srgbClr val="94A3B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67" name="Google Shape;267;p19"/>
              <p:cNvSpPr/>
              <p:nvPr/>
            </p:nvSpPr>
            <p:spPr>
              <a:xfrm>
                <a:off x="4762500" y="3333750"/>
                <a:ext cx="9336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E7443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68" name="Google Shape;268;p19"/>
              <p:cNvSpPr txBox="1"/>
              <p:nvPr/>
            </p:nvSpPr>
            <p:spPr>
              <a:xfrm>
                <a:off x="4762500" y="3440430"/>
                <a:ext cx="933600" cy="457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700" b="1" dirty="0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RECON FAILURE</a:t>
                </a:r>
                <a:endParaRPr sz="700" b="1" dirty="0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269" name="Google Shape;269;p19"/>
            <p:cNvGrpSpPr/>
            <p:nvPr/>
          </p:nvGrpSpPr>
          <p:grpSpPr>
            <a:xfrm>
              <a:off x="6038850" y="3276600"/>
              <a:ext cx="2381400" cy="952500"/>
              <a:chOff x="6038850" y="3276600"/>
              <a:chExt cx="2381400" cy="952500"/>
            </a:xfrm>
          </p:grpSpPr>
          <p:sp>
            <p:nvSpPr>
              <p:cNvPr id="270" name="Google Shape;270;p19"/>
              <p:cNvSpPr/>
              <p:nvPr/>
            </p:nvSpPr>
            <p:spPr>
              <a:xfrm>
                <a:off x="6038850" y="3276600"/>
                <a:ext cx="2381400" cy="952500"/>
              </a:xfrm>
              <a:prstGeom prst="roundRect">
                <a:avLst>
                  <a:gd name="adj" fmla="val 6000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6172200" y="3609975"/>
                <a:ext cx="209550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38182" y="0"/>
                    </a:lnTo>
                    <a:lnTo>
                      <a:pt x="70909" y="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flat" cmpd="sng">
                <a:solidFill>
                  <a:srgbClr val="1E293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pic>
            <p:nvPicPr>
              <p:cNvPr id="272" name="Google Shape;272;p1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7239000" y="35433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19"/>
              <p:cNvSpPr/>
              <p:nvPr/>
            </p:nvSpPr>
            <p:spPr>
              <a:xfrm>
                <a:off x="7486650" y="3790950"/>
                <a:ext cx="114300" cy="1143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7286625" y="3333750"/>
                <a:ext cx="1057200" cy="152400"/>
              </a:xfrm>
              <a:prstGeom prst="roundRect">
                <a:avLst>
                  <a:gd name="adj" fmla="val 18750"/>
                </a:avLst>
              </a:prstGeom>
              <a:solidFill>
                <a:srgbClr val="E7443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275" name="Google Shape;275;p19"/>
              <p:cNvSpPr txBox="1"/>
              <p:nvPr/>
            </p:nvSpPr>
            <p:spPr>
              <a:xfrm>
                <a:off x="7286625" y="3438524"/>
                <a:ext cx="1057200" cy="47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lang="en" sz="700" b="1" dirty="0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HOTSPOT DETECTED</a:t>
                </a:r>
                <a:endParaRPr sz="700" b="1" dirty="0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19"/>
              <p:cNvSpPr txBox="1"/>
              <p:nvPr/>
            </p:nvSpPr>
            <p:spPr>
              <a:xfrm>
                <a:off x="6115050" y="4010025"/>
                <a:ext cx="22290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1">
                    <a:solidFill>
                      <a:srgbClr val="F87171"/>
                    </a:solidFill>
                    <a:latin typeface="Old Standard TT" panose="020B0604020202020204" charset="0"/>
                    <a:sym typeface="Arial"/>
                  </a:rPr>
                  <a:t>MSE Score: 0.185 (SPIKE &gt; THRESHOLD)</a:t>
                </a:r>
                <a:endParaRPr sz="850" b="1">
                  <a:solidFill>
                    <a:srgbClr val="F87171"/>
                  </a:solidFill>
                  <a:latin typeface="Old Standard TT" panose="020B0604020202020204" charset="0"/>
                  <a:sym typeface="Arial"/>
                </a:endParaRPr>
              </a:p>
            </p:txBody>
          </p:sp>
        </p:grpSp>
        <p:sp>
          <p:nvSpPr>
            <p:cNvPr id="277" name="Google Shape;277;p19"/>
            <p:cNvSpPr txBox="1"/>
            <p:nvPr/>
          </p:nvSpPr>
          <p:spPr>
            <a:xfrm>
              <a:off x="723900" y="4276725"/>
              <a:ext cx="76962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Conversely, </a:t>
              </a:r>
              <a:r>
                <a:rPr lang="en" sz="105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anomaly frames</a:t>
              </a: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reveal bright hotspots in the error map exactly where unexpected objects (e.g., bicycle or skater) appear.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78" name="Google Shape;278;p19"/>
          <p:cNvGrpSpPr/>
          <p:nvPr/>
        </p:nvGrpSpPr>
        <p:grpSpPr>
          <a:xfrm>
            <a:off x="723900" y="4619625"/>
            <a:ext cx="7696200" cy="428625"/>
            <a:chOff x="723900" y="4552950"/>
            <a:chExt cx="7696200" cy="428625"/>
          </a:xfrm>
        </p:grpSpPr>
        <p:sp>
          <p:nvSpPr>
            <p:cNvPr id="279" name="Google Shape;279;p19"/>
            <p:cNvSpPr/>
            <p:nvPr/>
          </p:nvSpPr>
          <p:spPr>
            <a:xfrm>
              <a:off x="723900" y="4552950"/>
              <a:ext cx="7696200" cy="400200"/>
            </a:xfrm>
            <a:prstGeom prst="roundRect">
              <a:avLst>
                <a:gd name="adj" fmla="val 9523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800100" y="4638675"/>
              <a:ext cx="7467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lang="en" sz="1000" b="1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Detection Mechanism:</a:t>
              </a:r>
              <a:r>
                <a:rPr lang="en" sz="1000" dirty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Because the model cannot reconstruct unseen objects, the Mean Squared Error (MSE) score spikes above the established threshold, successfully flagging the frame as anomalous.</a:t>
              </a:r>
              <a:endParaRPr sz="1000" dirty="0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0"/>
          <p:cNvGrpSpPr/>
          <p:nvPr/>
        </p:nvGrpSpPr>
        <p:grpSpPr>
          <a:xfrm>
            <a:off x="746962" y="1078425"/>
            <a:ext cx="748538" cy="45600"/>
            <a:chOff x="0" y="0"/>
            <a:chExt cx="748538" cy="45600"/>
          </a:xfrm>
        </p:grpSpPr>
        <p:sp>
          <p:nvSpPr>
            <p:cNvPr id="287" name="Google Shape;287;p20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88" name="Google Shape;288;p20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289" name="Google Shape;289;p20"/>
          <p:cNvSpPr txBox="1"/>
          <p:nvPr/>
        </p:nvSpPr>
        <p:spPr>
          <a:xfrm>
            <a:off x="723900" y="581025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Example Anomaly Score Timeline</a:t>
            </a:r>
            <a:endParaRPr sz="26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290" name="Google Shape;290;p20"/>
          <p:cNvGrpSpPr/>
          <p:nvPr/>
        </p:nvGrpSpPr>
        <p:grpSpPr>
          <a:xfrm>
            <a:off x="723900" y="1314450"/>
            <a:ext cx="7696200" cy="495300"/>
            <a:chOff x="0" y="0"/>
            <a:chExt cx="7696200" cy="495300"/>
          </a:xfrm>
        </p:grpSpPr>
        <p:sp>
          <p:nvSpPr>
            <p:cNvPr id="291" name="Google Shape;291;p20"/>
            <p:cNvSpPr/>
            <p:nvPr/>
          </p:nvSpPr>
          <p:spPr>
            <a:xfrm>
              <a:off x="0" y="0"/>
              <a:ext cx="24384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0" y="0"/>
              <a:ext cx="47700" cy="495300"/>
            </a:xfrm>
            <a:prstGeom prst="roundRect">
              <a:avLst>
                <a:gd name="adj" fmla="val 4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142875" y="76200"/>
              <a:ext cx="2190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Scope &amp; Data Size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2,010 Test Frames across 12 Clips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2628900" y="0"/>
              <a:ext cx="24384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95" name="Google Shape;295;p20"/>
            <p:cNvSpPr/>
            <p:nvPr/>
          </p:nvSpPr>
          <p:spPr>
            <a:xfrm>
              <a:off x="2628900" y="0"/>
              <a:ext cx="47700" cy="495300"/>
            </a:xfrm>
            <a:prstGeom prst="roundRect">
              <a:avLst>
                <a:gd name="adj" fmla="val 40000"/>
              </a:avLst>
            </a:pr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2771775" y="76200"/>
              <a:ext cx="2190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Target Metric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Per-Frame Reconstruction MSE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5257800" y="0"/>
              <a:ext cx="2438400" cy="495300"/>
            </a:xfrm>
            <a:prstGeom prst="roundRect">
              <a:avLst>
                <a:gd name="adj" fmla="val 11538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5257800" y="0"/>
              <a:ext cx="47700" cy="495300"/>
            </a:xfrm>
            <a:prstGeom prst="roundRect">
              <a:avLst>
                <a:gd name="adj" fmla="val 4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5400675" y="76200"/>
              <a:ext cx="21909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Detection Threshold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Fixed Cutoff = 0.000734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0" name="Google Shape;300;p20"/>
          <p:cNvGrpSpPr/>
          <p:nvPr/>
        </p:nvGrpSpPr>
        <p:grpSpPr>
          <a:xfrm>
            <a:off x="723900" y="1924050"/>
            <a:ext cx="7696200" cy="2495700"/>
            <a:chOff x="0" y="0"/>
            <a:chExt cx="7696200" cy="2495700"/>
          </a:xfrm>
        </p:grpSpPr>
        <p:sp>
          <p:nvSpPr>
            <p:cNvPr id="301" name="Google Shape;301;p20"/>
            <p:cNvSpPr/>
            <p:nvPr/>
          </p:nvSpPr>
          <p:spPr>
            <a:xfrm>
              <a:off x="0" y="0"/>
              <a:ext cx="7696200" cy="2495700"/>
            </a:xfrm>
            <a:prstGeom prst="roundRect">
              <a:avLst>
                <a:gd name="adj" fmla="val 305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pic>
          <p:nvPicPr>
            <p:cNvPr id="302" name="Google Shape;302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38250" y="357188"/>
              <a:ext cx="61914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38250" y="785813"/>
              <a:ext cx="61914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38250" y="1214438"/>
              <a:ext cx="61914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38250" y="1643063"/>
              <a:ext cx="6191400" cy="9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95488" y="233363"/>
              <a:ext cx="628800" cy="17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67113" y="233363"/>
              <a:ext cx="533400" cy="17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91113" y="233363"/>
              <a:ext cx="581100" cy="17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567488" y="233363"/>
              <a:ext cx="533400" cy="1752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0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38250" y="381000"/>
              <a:ext cx="6191400" cy="159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" name="Google Shape;311;p20"/>
            <p:cNvSpPr/>
            <p:nvPr/>
          </p:nvSpPr>
          <p:spPr>
            <a:xfrm>
              <a:off x="1238250" y="381000"/>
              <a:ext cx="6191400" cy="1524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3692" y="117750"/>
                  </a:lnTo>
                  <a:lnTo>
                    <a:pt x="9231" y="118500"/>
                  </a:lnTo>
                  <a:lnTo>
                    <a:pt x="13846" y="116250"/>
                  </a:lnTo>
                  <a:lnTo>
                    <a:pt x="15692" y="82500"/>
                  </a:lnTo>
                  <a:lnTo>
                    <a:pt x="17538" y="30000"/>
                  </a:lnTo>
                  <a:lnTo>
                    <a:pt x="19385" y="3750"/>
                  </a:lnTo>
                  <a:lnTo>
                    <a:pt x="21231" y="22500"/>
                  </a:lnTo>
                  <a:lnTo>
                    <a:pt x="23077" y="60000"/>
                  </a:lnTo>
                  <a:lnTo>
                    <a:pt x="24923" y="97500"/>
                  </a:lnTo>
                  <a:lnTo>
                    <a:pt x="26400" y="115500"/>
                  </a:lnTo>
                  <a:lnTo>
                    <a:pt x="31385" y="117750"/>
                  </a:lnTo>
                  <a:lnTo>
                    <a:pt x="36923" y="117000"/>
                  </a:lnTo>
                  <a:lnTo>
                    <a:pt x="42462" y="115500"/>
                  </a:lnTo>
                  <a:lnTo>
                    <a:pt x="45785" y="75000"/>
                  </a:lnTo>
                  <a:lnTo>
                    <a:pt x="47631" y="26250"/>
                  </a:lnTo>
                  <a:lnTo>
                    <a:pt x="49477" y="9000"/>
                  </a:lnTo>
                  <a:lnTo>
                    <a:pt x="51323" y="37500"/>
                  </a:lnTo>
                  <a:lnTo>
                    <a:pt x="53169" y="82500"/>
                  </a:lnTo>
                  <a:lnTo>
                    <a:pt x="55015" y="116250"/>
                  </a:lnTo>
                  <a:lnTo>
                    <a:pt x="60923" y="117750"/>
                  </a:lnTo>
                  <a:lnTo>
                    <a:pt x="66462" y="116250"/>
                  </a:lnTo>
                  <a:lnTo>
                    <a:pt x="72923" y="117000"/>
                  </a:lnTo>
                  <a:lnTo>
                    <a:pt x="75323" y="67500"/>
                  </a:lnTo>
                  <a:lnTo>
                    <a:pt x="77169" y="18750"/>
                  </a:lnTo>
                  <a:lnTo>
                    <a:pt x="79015" y="0"/>
                  </a:lnTo>
                  <a:lnTo>
                    <a:pt x="80862" y="33750"/>
                  </a:lnTo>
                  <a:lnTo>
                    <a:pt x="82708" y="75000"/>
                  </a:lnTo>
                  <a:lnTo>
                    <a:pt x="85477" y="116250"/>
                  </a:lnTo>
                  <a:lnTo>
                    <a:pt x="90462" y="118500"/>
                  </a:lnTo>
                  <a:lnTo>
                    <a:pt x="96000" y="117000"/>
                  </a:lnTo>
                  <a:lnTo>
                    <a:pt x="101908" y="115500"/>
                  </a:lnTo>
                  <a:lnTo>
                    <a:pt x="103754" y="71250"/>
                  </a:lnTo>
                  <a:lnTo>
                    <a:pt x="105600" y="22500"/>
                  </a:lnTo>
                  <a:lnTo>
                    <a:pt x="107446" y="6000"/>
                  </a:lnTo>
                  <a:lnTo>
                    <a:pt x="109292" y="41250"/>
                  </a:lnTo>
                  <a:lnTo>
                    <a:pt x="111138" y="86250"/>
                  </a:lnTo>
                  <a:lnTo>
                    <a:pt x="113169" y="115500"/>
                  </a:lnTo>
                  <a:lnTo>
                    <a:pt x="116308" y="117750"/>
                  </a:lnTo>
                  <a:lnTo>
                    <a:pt x="120000" y="1185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23825" cap="flat" cmpd="sng">
              <a:solidFill>
                <a:srgbClr val="3984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1905000" y="76200"/>
              <a:ext cx="809700" cy="209700"/>
            </a:xfrm>
            <a:prstGeom prst="roundRect">
              <a:avLst>
                <a:gd name="adj" fmla="val 50000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13" name="Google Shape;313;p20"/>
            <p:cNvSpPr txBox="1"/>
            <p:nvPr/>
          </p:nvSpPr>
          <p:spPr>
            <a:xfrm>
              <a:off x="1905000" y="76200"/>
              <a:ext cx="809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Bicyclists</a:t>
              </a:r>
              <a:endParaRPr sz="850" b="1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3476625" y="76200"/>
              <a:ext cx="714300" cy="209700"/>
            </a:xfrm>
            <a:prstGeom prst="roundRect">
              <a:avLst>
                <a:gd name="adj" fmla="val 50000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15" name="Google Shape;315;p20"/>
            <p:cNvSpPr txBox="1"/>
            <p:nvPr/>
          </p:nvSpPr>
          <p:spPr>
            <a:xfrm>
              <a:off x="3476625" y="76200"/>
              <a:ext cx="7143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Skaters</a:t>
              </a:r>
              <a:endParaRPr sz="850" b="1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4905375" y="76200"/>
              <a:ext cx="952500" cy="209700"/>
            </a:xfrm>
            <a:prstGeom prst="roundRect">
              <a:avLst>
                <a:gd name="adj" fmla="val 50000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17" name="Google Shape;317;p20"/>
            <p:cNvSpPr txBox="1"/>
            <p:nvPr/>
          </p:nvSpPr>
          <p:spPr>
            <a:xfrm>
              <a:off x="4905375" y="76200"/>
              <a:ext cx="952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Wheelchairs</a:t>
              </a:r>
              <a:endParaRPr sz="850" b="1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6496050" y="76200"/>
              <a:ext cx="666900" cy="209700"/>
            </a:xfrm>
            <a:prstGeom prst="roundRect">
              <a:avLst>
                <a:gd name="adj" fmla="val 50000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19" name="Google Shape;319;p20"/>
            <p:cNvSpPr txBox="1"/>
            <p:nvPr/>
          </p:nvSpPr>
          <p:spPr>
            <a:xfrm>
              <a:off x="6496050" y="76200"/>
              <a:ext cx="6669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Carts</a:t>
              </a:r>
              <a:endParaRPr sz="850" b="1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20" name="Google Shape;320;p20"/>
            <p:cNvCxnSpPr/>
            <p:nvPr/>
          </p:nvCxnSpPr>
          <p:spPr>
            <a:xfrm>
              <a:off x="1238250" y="238125"/>
              <a:ext cx="0" cy="17430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1" name="Google Shape;321;p20"/>
            <p:cNvCxnSpPr/>
            <p:nvPr/>
          </p:nvCxnSpPr>
          <p:spPr>
            <a:xfrm>
              <a:off x="1238250" y="1981200"/>
              <a:ext cx="6191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2" name="Google Shape;322;p20"/>
            <p:cNvSpPr txBox="1"/>
            <p:nvPr/>
          </p:nvSpPr>
          <p:spPr>
            <a:xfrm>
              <a:off x="381000" y="285750"/>
              <a:ext cx="781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0.0015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23" name="Google Shape;323;p20"/>
            <p:cNvSpPr txBox="1"/>
            <p:nvPr/>
          </p:nvSpPr>
          <p:spPr>
            <a:xfrm>
              <a:off x="381000" y="714375"/>
              <a:ext cx="781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0.0010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24" name="Google Shape;324;p20"/>
            <p:cNvSpPr txBox="1"/>
            <p:nvPr/>
          </p:nvSpPr>
          <p:spPr>
            <a:xfrm>
              <a:off x="381000" y="1143000"/>
              <a:ext cx="781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0.0005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381000" y="1905000"/>
              <a:ext cx="7812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0.0000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26" name="Google Shape;326;p20"/>
            <p:cNvSpPr txBox="1"/>
            <p:nvPr/>
          </p:nvSpPr>
          <p:spPr>
            <a:xfrm rot="-5400000">
              <a:off x="-190500" y="1000125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Reconstruction MSE</a:t>
              </a:r>
              <a:endParaRPr sz="850" b="1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27" name="Google Shape;327;p20"/>
            <p:cNvCxnSpPr/>
            <p:nvPr/>
          </p:nvCxnSpPr>
          <p:spPr>
            <a:xfrm>
              <a:off x="1238250" y="198120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8" name="Google Shape;328;p20"/>
            <p:cNvSpPr txBox="1"/>
            <p:nvPr/>
          </p:nvSpPr>
          <p:spPr>
            <a:xfrm>
              <a:off x="1047750" y="2047875"/>
              <a:ext cx="381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29" name="Google Shape;329;p20"/>
            <p:cNvCxnSpPr/>
            <p:nvPr/>
          </p:nvCxnSpPr>
          <p:spPr>
            <a:xfrm>
              <a:off x="2781300" y="198120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0" name="Google Shape;330;p20"/>
            <p:cNvSpPr txBox="1"/>
            <p:nvPr/>
          </p:nvSpPr>
          <p:spPr>
            <a:xfrm>
              <a:off x="2590800" y="2047875"/>
              <a:ext cx="381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500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31" name="Google Shape;331;p20"/>
            <p:cNvCxnSpPr/>
            <p:nvPr/>
          </p:nvCxnSpPr>
          <p:spPr>
            <a:xfrm>
              <a:off x="4333875" y="198120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2" name="Google Shape;332;p20"/>
            <p:cNvSpPr txBox="1"/>
            <p:nvPr/>
          </p:nvSpPr>
          <p:spPr>
            <a:xfrm>
              <a:off x="4143375" y="2047875"/>
              <a:ext cx="381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1000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33" name="Google Shape;333;p20"/>
            <p:cNvCxnSpPr/>
            <p:nvPr/>
          </p:nvCxnSpPr>
          <p:spPr>
            <a:xfrm>
              <a:off x="5876925" y="198120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4" name="Google Shape;334;p20"/>
            <p:cNvSpPr txBox="1"/>
            <p:nvPr/>
          </p:nvSpPr>
          <p:spPr>
            <a:xfrm>
              <a:off x="5686425" y="2047875"/>
              <a:ext cx="381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1500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35" name="Google Shape;335;p20"/>
            <p:cNvCxnSpPr/>
            <p:nvPr/>
          </p:nvCxnSpPr>
          <p:spPr>
            <a:xfrm>
              <a:off x="7429500" y="1981200"/>
              <a:ext cx="0" cy="477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94A3B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6" name="Google Shape;336;p20"/>
            <p:cNvSpPr txBox="1"/>
            <p:nvPr/>
          </p:nvSpPr>
          <p:spPr>
            <a:xfrm>
              <a:off x="7239000" y="2047875"/>
              <a:ext cx="3810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2010</a:t>
              </a:r>
              <a:endParaRPr sz="8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37" name="Google Shape;337;p20"/>
            <p:cNvSpPr txBox="1"/>
            <p:nvPr/>
          </p:nvSpPr>
          <p:spPr>
            <a:xfrm>
              <a:off x="2190750" y="2247900"/>
              <a:ext cx="42864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Frame Index (Pedestrian Walkway Test Clips)</a:t>
              </a:r>
              <a:endParaRPr sz="850" b="1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8" name="Google Shape;338;p20"/>
          <p:cNvGrpSpPr/>
          <p:nvPr/>
        </p:nvGrpSpPr>
        <p:grpSpPr>
          <a:xfrm>
            <a:off x="723900" y="4591050"/>
            <a:ext cx="7696200" cy="381000"/>
            <a:chOff x="0" y="0"/>
            <a:chExt cx="7696200" cy="381000"/>
          </a:xfrm>
        </p:grpSpPr>
        <p:sp>
          <p:nvSpPr>
            <p:cNvPr id="339" name="Google Shape;339;p20"/>
            <p:cNvSpPr/>
            <p:nvPr/>
          </p:nvSpPr>
          <p:spPr>
            <a:xfrm>
              <a:off x="0" y="0"/>
              <a:ext cx="7696200" cy="381000"/>
            </a:xfrm>
            <a:prstGeom prst="roundRect">
              <a:avLst>
                <a:gd name="adj" fmla="val 1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238125" y="133350"/>
              <a:ext cx="152400" cy="114300"/>
            </a:xfrm>
            <a:prstGeom prst="rect">
              <a:avLst/>
            </a:prstGeom>
            <a:solidFill>
              <a:srgbClr val="E74435">
                <a:alpha val="60000"/>
              </a:srgbClr>
            </a:solidFill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41" name="Google Shape;341;p20"/>
            <p:cNvSpPr txBox="1"/>
            <p:nvPr/>
          </p:nvSpPr>
          <p:spPr>
            <a:xfrm>
              <a:off x="447675" y="104775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FFFFFF"/>
                  </a:solidFill>
                  <a:latin typeface="Old Standard TT" panose="020B0604020202020204" charset="0"/>
                  <a:sym typeface="Arial"/>
                </a:rPr>
                <a:t>Ground-Truth Anomaly Window</a:t>
              </a:r>
              <a:endParaRPr sz="900" b="0">
                <a:solidFill>
                  <a:srgbClr val="FFFFFF"/>
                </a:solidFill>
                <a:latin typeface="Old Standard TT" panose="020B0604020202020204" charset="0"/>
                <a:sym typeface="Arial"/>
              </a:endParaRPr>
            </a:p>
          </p:txBody>
        </p:sp>
        <p:cxnSp>
          <p:nvCxnSpPr>
            <p:cNvPr id="342" name="Google Shape;342;p20"/>
            <p:cNvCxnSpPr/>
            <p:nvPr/>
          </p:nvCxnSpPr>
          <p:spPr>
            <a:xfrm>
              <a:off x="2428875" y="19050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w="238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3" name="Google Shape;343;p20"/>
            <p:cNvSpPr txBox="1"/>
            <p:nvPr/>
          </p:nvSpPr>
          <p:spPr>
            <a:xfrm>
              <a:off x="2686050" y="104775"/>
              <a:ext cx="1619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33" b="0">
                  <a:solidFill>
                    <a:srgbClr val="FFFFFF"/>
                  </a:solidFill>
                  <a:latin typeface="Old Standard TT" panose="020B0604020202020204" charset="0"/>
                  <a:sym typeface="Arial"/>
                </a:rPr>
                <a:t>Per-Frame Reconstruction MSE</a:t>
              </a:r>
              <a:endParaRPr sz="833" b="0">
                <a:solidFill>
                  <a:srgbClr val="FFFFFF"/>
                </a:solidFill>
                <a:latin typeface="Old Standard TT" panose="020B0604020202020204" charset="0"/>
                <a:sym typeface="Arial"/>
              </a:endParaRPr>
            </a:p>
          </p:txBody>
        </p:sp>
        <p:pic>
          <p:nvPicPr>
            <p:cNvPr id="344" name="Google Shape;344;p20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572000" y="180975"/>
              <a:ext cx="1716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20"/>
            <p:cNvSpPr txBox="1"/>
            <p:nvPr/>
          </p:nvSpPr>
          <p:spPr>
            <a:xfrm>
              <a:off x="4829175" y="104775"/>
              <a:ext cx="2667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5" b="0">
                  <a:solidFill>
                    <a:srgbClr val="FFFFFF"/>
                  </a:solidFill>
                  <a:latin typeface="Old Standard TT" panose="020B0604020202020204" charset="0"/>
                  <a:sym typeface="Arial"/>
                </a:rPr>
                <a:t>Detection Threshold (0.000734) — High Responsiveness</a:t>
              </a:r>
              <a:endParaRPr sz="765" b="0">
                <a:solidFill>
                  <a:srgbClr val="FFFFFF"/>
                </a:solidFill>
                <a:latin typeface="Old Standard TT" panose="020B0604020202020204" charset="0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oogle Shape;352;p21"/>
          <p:cNvGrpSpPr/>
          <p:nvPr/>
        </p:nvGrpSpPr>
        <p:grpSpPr>
          <a:xfrm>
            <a:off x="723900" y="1123950"/>
            <a:ext cx="748538" cy="45600"/>
            <a:chOff x="0" y="0"/>
            <a:chExt cx="748538" cy="45600"/>
          </a:xfrm>
        </p:grpSpPr>
        <p:sp>
          <p:nvSpPr>
            <p:cNvPr id="353" name="Google Shape;353;p21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54" name="Google Shape;354;p21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355" name="Google Shape;355;p21"/>
          <p:cNvSpPr txBox="1"/>
          <p:nvPr/>
        </p:nvSpPr>
        <p:spPr>
          <a:xfrm>
            <a:off x="723900" y="64297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Detection Interface &amp; Visual Layout</a:t>
            </a:r>
            <a:endParaRPr sz="24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356" name="Google Shape;356;p21"/>
          <p:cNvGrpSpPr/>
          <p:nvPr/>
        </p:nvGrpSpPr>
        <p:grpSpPr>
          <a:xfrm>
            <a:off x="723900" y="1257300"/>
            <a:ext cx="3714900" cy="2143200"/>
            <a:chOff x="0" y="0"/>
            <a:chExt cx="3714900" cy="2143200"/>
          </a:xfrm>
        </p:grpSpPr>
        <p:sp>
          <p:nvSpPr>
            <p:cNvPr id="357" name="Google Shape;357;p21"/>
            <p:cNvSpPr/>
            <p:nvPr/>
          </p:nvSpPr>
          <p:spPr>
            <a:xfrm>
              <a:off x="0" y="0"/>
              <a:ext cx="3714900" cy="2143200"/>
            </a:xfrm>
            <a:prstGeom prst="roundRect">
              <a:avLst>
                <a:gd name="adj" fmla="val 2666"/>
              </a:avLst>
            </a:prstGeom>
            <a:solidFill>
              <a:srgbClr val="181C24"/>
            </a:solidFill>
            <a:ln w="9525" cap="flat" cmpd="sng">
              <a:solidFill>
                <a:srgbClr val="D0D7D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0" y="0"/>
              <a:ext cx="3714900" cy="266700"/>
            </a:xfrm>
            <a:prstGeom prst="roundRect">
              <a:avLst>
                <a:gd name="adj" fmla="val 21428"/>
              </a:avLst>
            </a:prstGeom>
            <a:solidFill>
              <a:srgbClr val="2227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0" y="171450"/>
              <a:ext cx="3714900" cy="95400"/>
            </a:xfrm>
            <a:prstGeom prst="rect">
              <a:avLst/>
            </a:prstGeom>
            <a:solidFill>
              <a:srgbClr val="22273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60" name="Google Shape;360;p21"/>
            <p:cNvSpPr txBox="1"/>
            <p:nvPr/>
          </p:nvSpPr>
          <p:spPr>
            <a:xfrm>
              <a:off x="114300" y="47625"/>
              <a:ext cx="3486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9A9E9E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CAM_01 • RAW SURVEILLANCE FRAME</a:t>
              </a:r>
              <a:endParaRPr sz="1000" b="1">
                <a:solidFill>
                  <a:srgbClr val="9A9E9E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285750" y="952500"/>
              <a:ext cx="3143400" cy="9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40000" y="0"/>
                  </a:lnTo>
                  <a:lnTo>
                    <a:pt x="80000" y="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cxnSp>
          <p:nvCxnSpPr>
            <p:cNvPr id="362" name="Google Shape;362;p21"/>
            <p:cNvCxnSpPr/>
            <p:nvPr/>
          </p:nvCxnSpPr>
          <p:spPr>
            <a:xfrm rot="10800000">
              <a:off x="1333500" y="476100"/>
              <a:ext cx="0" cy="4764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21"/>
            <p:cNvCxnSpPr/>
            <p:nvPr/>
          </p:nvCxnSpPr>
          <p:spPr>
            <a:xfrm rot="10800000">
              <a:off x="2381250" y="476100"/>
              <a:ext cx="0" cy="4764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4" name="Google Shape;364;p21"/>
            <p:cNvCxnSpPr/>
            <p:nvPr/>
          </p:nvCxnSpPr>
          <p:spPr>
            <a:xfrm>
              <a:off x="285750" y="190500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5" name="Google Shape;365;p21"/>
            <p:cNvSpPr/>
            <p:nvPr/>
          </p:nvSpPr>
          <p:spPr>
            <a:xfrm>
              <a:off x="1743075" y="1028700"/>
              <a:ext cx="228600" cy="228600"/>
            </a:xfrm>
            <a:prstGeom prst="ellipse">
              <a:avLst/>
            </a:prstGeom>
            <a:solidFill>
              <a:srgbClr val="4B556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1714500" y="1238250"/>
              <a:ext cx="2859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" y="15000"/>
                  </a:moveTo>
                  <a:cubicBezTo>
                    <a:pt x="12000" y="0"/>
                    <a:pt x="108000" y="0"/>
                    <a:pt x="108000" y="15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4B556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67" name="Google Shape;367;p21"/>
            <p:cNvSpPr txBox="1"/>
            <p:nvPr/>
          </p:nvSpPr>
          <p:spPr>
            <a:xfrm>
              <a:off x="114300" y="32385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● REC </a:t>
              </a:r>
              <a:r>
                <a:rPr lang="en" sz="900" b="0">
                  <a:solidFill>
                    <a:srgbClr val="A0AAB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1080p / 30fps</a:t>
              </a:r>
              <a:endParaRPr sz="900" b="1">
                <a:solidFill>
                  <a:srgbClr val="E74435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2571750" y="32385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718096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2026-09-22 14:23:08</a:t>
              </a:r>
              <a:endParaRPr sz="850">
                <a:solidFill>
                  <a:srgbClr val="718096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69" name="Google Shape;369;p21"/>
            <p:cNvSpPr/>
            <p:nvPr/>
          </p:nvSpPr>
          <p:spPr>
            <a:xfrm>
              <a:off x="114300" y="1809750"/>
              <a:ext cx="1524000" cy="209700"/>
            </a:xfrm>
            <a:prstGeom prst="roundRect">
              <a:avLst>
                <a:gd name="adj" fmla="val 13636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70" name="Google Shape;370;p21"/>
            <p:cNvSpPr txBox="1"/>
            <p:nvPr/>
          </p:nvSpPr>
          <p:spPr>
            <a:xfrm>
              <a:off x="171450" y="1838325"/>
              <a:ext cx="1428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E2E8F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Input: Raw Video Stream</a:t>
              </a:r>
              <a:endParaRPr sz="850" b="1">
                <a:solidFill>
                  <a:srgbClr val="E2E8F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4705350" y="1257300"/>
            <a:ext cx="3714900" cy="2143200"/>
            <a:chOff x="0" y="0"/>
            <a:chExt cx="3714900" cy="2143200"/>
          </a:xfrm>
        </p:grpSpPr>
        <p:sp>
          <p:nvSpPr>
            <p:cNvPr id="372" name="Google Shape;372;p21"/>
            <p:cNvSpPr/>
            <p:nvPr/>
          </p:nvSpPr>
          <p:spPr>
            <a:xfrm>
              <a:off x="0" y="0"/>
              <a:ext cx="3714900" cy="2143200"/>
            </a:xfrm>
            <a:prstGeom prst="roundRect">
              <a:avLst>
                <a:gd name="adj" fmla="val 2666"/>
              </a:avLst>
            </a:prstGeom>
            <a:solidFill>
              <a:srgbClr val="181C24"/>
            </a:solidFill>
            <a:ln w="14300" cap="flat" cmpd="sng">
              <a:solidFill>
                <a:srgbClr val="1A99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0" y="0"/>
              <a:ext cx="3714900" cy="266700"/>
            </a:xfrm>
            <a:prstGeom prst="roundRect">
              <a:avLst>
                <a:gd name="adj" fmla="val 21428"/>
              </a:avLst>
            </a:prstGeom>
            <a:solidFill>
              <a:srgbClr val="1F29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0" y="171450"/>
              <a:ext cx="3714900" cy="954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75" name="Google Shape;375;p21"/>
            <p:cNvSpPr txBox="1"/>
            <p:nvPr/>
          </p:nvSpPr>
          <p:spPr>
            <a:xfrm>
              <a:off x="114300" y="47625"/>
              <a:ext cx="3486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CAM_01 • MODEL DETECTION OUTPUT</a:t>
              </a:r>
              <a:endParaRPr sz="1000" b="1">
                <a:solidFill>
                  <a:srgbClr val="1A998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285750" y="952500"/>
              <a:ext cx="3143400" cy="9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40000" y="0"/>
                  </a:lnTo>
                  <a:lnTo>
                    <a:pt x="80000" y="0"/>
                  </a:lnTo>
                  <a:lnTo>
                    <a:pt x="12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cxnSp>
          <p:nvCxnSpPr>
            <p:cNvPr id="377" name="Google Shape;377;p21"/>
            <p:cNvCxnSpPr/>
            <p:nvPr/>
          </p:nvCxnSpPr>
          <p:spPr>
            <a:xfrm rot="10800000">
              <a:off x="1333500" y="476100"/>
              <a:ext cx="0" cy="4764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8" name="Google Shape;378;p21"/>
            <p:cNvCxnSpPr/>
            <p:nvPr/>
          </p:nvCxnSpPr>
          <p:spPr>
            <a:xfrm rot="10800000">
              <a:off x="2381250" y="476100"/>
              <a:ext cx="0" cy="47640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21"/>
            <p:cNvCxnSpPr/>
            <p:nvPr/>
          </p:nvCxnSpPr>
          <p:spPr>
            <a:xfrm>
              <a:off x="285750" y="1905000"/>
              <a:ext cx="3143400" cy="0"/>
            </a:xfrm>
            <a:prstGeom prst="straightConnector1">
              <a:avLst/>
            </a:prstGeom>
            <a:solidFill>
              <a:srgbClr val="FFFFFF"/>
            </a:solidFill>
            <a:ln w="14300" cap="flat" cmpd="sng">
              <a:solidFill>
                <a:srgbClr val="2C3340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80" name="Google Shape;380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633538" y="985838"/>
              <a:ext cx="447600" cy="6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21"/>
            <p:cNvSpPr/>
            <p:nvPr/>
          </p:nvSpPr>
          <p:spPr>
            <a:xfrm>
              <a:off x="1743075" y="1028700"/>
              <a:ext cx="228600" cy="228600"/>
            </a:xfrm>
            <a:prstGeom prst="ellipse">
              <a:avLst/>
            </a:prstGeom>
            <a:solidFill>
              <a:srgbClr val="6B728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1714500" y="1238250"/>
              <a:ext cx="285900" cy="381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" y="15000"/>
                  </a:moveTo>
                  <a:cubicBezTo>
                    <a:pt x="12000" y="0"/>
                    <a:pt x="108000" y="0"/>
                    <a:pt x="108000" y="15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6B728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1619250" y="952500"/>
              <a:ext cx="476400" cy="743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E744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84" name="Google Shape;384;p21"/>
            <p:cNvSpPr/>
            <p:nvPr/>
          </p:nvSpPr>
          <p:spPr>
            <a:xfrm>
              <a:off x="1619250" y="800100"/>
              <a:ext cx="838200" cy="152400"/>
            </a:xfrm>
            <a:prstGeom prst="rect">
              <a:avLst/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85" name="Google Shape;385;p21"/>
            <p:cNvSpPr txBox="1"/>
            <p:nvPr/>
          </p:nvSpPr>
          <p:spPr>
            <a:xfrm>
              <a:off x="1647825" y="809625"/>
              <a:ext cx="7812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ANOMALY 98.4%</a:t>
              </a:r>
              <a:endParaRPr sz="750" b="1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114300" y="323850"/>
              <a:ext cx="1285800" cy="209700"/>
            </a:xfrm>
            <a:prstGeom prst="roundRect">
              <a:avLst>
                <a:gd name="adj" fmla="val 13636"/>
              </a:avLst>
            </a:prstGeom>
            <a:solidFill>
              <a:srgbClr val="33A650">
                <a:alpha val="20000"/>
              </a:srgbClr>
            </a:solidFill>
            <a:ln w="9525" cap="flat" cmpd="sng">
              <a:solidFill>
                <a:srgbClr val="33A65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87" name="Google Shape;387;p21"/>
            <p:cNvSpPr txBox="1"/>
            <p:nvPr/>
          </p:nvSpPr>
          <p:spPr>
            <a:xfrm>
              <a:off x="171450" y="352425"/>
              <a:ext cx="1190700" cy="17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86" b="1" i="0" u="none" strike="noStrike">
                  <a:solidFill>
                    <a:srgbClr val="33A65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● NORMAL FRAME</a:t>
              </a:r>
              <a:endParaRPr sz="786" b="1" i="0" u="none" strike="noStrike">
                <a:solidFill>
                  <a:srgbClr val="33A65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2362200" y="323850"/>
              <a:ext cx="1238400" cy="209700"/>
            </a:xfrm>
            <a:prstGeom prst="roundRect">
              <a:avLst>
                <a:gd name="adj" fmla="val 13636"/>
              </a:avLst>
            </a:prstGeom>
            <a:solidFill>
              <a:srgbClr val="1A9988">
                <a:alpha val="20000"/>
              </a:srgbClr>
            </a:solidFill>
            <a:ln w="9525" cap="flat" cmpd="sng">
              <a:solidFill>
                <a:srgbClr val="1A99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89" name="Google Shape;389;p21"/>
            <p:cNvSpPr txBox="1"/>
            <p:nvPr/>
          </p:nvSpPr>
          <p:spPr>
            <a:xfrm>
              <a:off x="2400300" y="352425"/>
              <a:ext cx="11622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Pixel Ground-Truth Mask</a:t>
              </a:r>
              <a:endParaRPr sz="800" b="1">
                <a:solidFill>
                  <a:srgbClr val="1A998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114300" y="1809750"/>
              <a:ext cx="1905000" cy="209700"/>
            </a:xfrm>
            <a:prstGeom prst="roundRect">
              <a:avLst>
                <a:gd name="adj" fmla="val 13636"/>
              </a:avLst>
            </a:pr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91" name="Google Shape;391;p21"/>
            <p:cNvSpPr txBox="1"/>
            <p:nvPr/>
          </p:nvSpPr>
          <p:spPr>
            <a:xfrm>
              <a:off x="171450" y="1838325"/>
              <a:ext cx="18096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 b="1">
                  <a:solidFill>
                    <a:srgbClr val="E2E8F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Output: Detection &amp; Mask Overlay</a:t>
              </a:r>
              <a:endParaRPr sz="850" b="1">
                <a:solidFill>
                  <a:srgbClr val="E2E8F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2" name="Google Shape;392;p21"/>
          <p:cNvGrpSpPr/>
          <p:nvPr/>
        </p:nvGrpSpPr>
        <p:grpSpPr>
          <a:xfrm>
            <a:off x="723900" y="3543300"/>
            <a:ext cx="7696200" cy="1352700"/>
            <a:chOff x="0" y="0"/>
            <a:chExt cx="7696200" cy="1352700"/>
          </a:xfrm>
        </p:grpSpPr>
        <p:sp>
          <p:nvSpPr>
            <p:cNvPr id="393" name="Google Shape;393;p21"/>
            <p:cNvSpPr/>
            <p:nvPr/>
          </p:nvSpPr>
          <p:spPr>
            <a:xfrm>
              <a:off x="0" y="0"/>
              <a:ext cx="7696200" cy="1352700"/>
            </a:xfrm>
            <a:prstGeom prst="roundRect">
              <a:avLst>
                <a:gd name="adj" fmla="val 4225"/>
              </a:avLst>
            </a:prstGeom>
            <a:solidFill>
              <a:srgbClr val="F4F6F7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394" name="Google Shape;394;p21"/>
            <p:cNvSpPr txBox="1"/>
            <p:nvPr/>
          </p:nvSpPr>
          <p:spPr>
            <a:xfrm>
              <a:off x="152400" y="114300"/>
              <a:ext cx="7391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REAL-TIME PREDICTION EVALUATION BADGES (VS. PIXEL-LEVEL GROUND-TRUTH MASKS)</a:t>
              </a:r>
              <a:endParaRPr sz="105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395" name="Google Shape;395;p21"/>
            <p:cNvGrpSpPr/>
            <p:nvPr/>
          </p:nvGrpSpPr>
          <p:grpSpPr>
            <a:xfrm>
              <a:off x="152400" y="361950"/>
              <a:ext cx="1714500" cy="304800"/>
              <a:chOff x="0" y="0"/>
              <a:chExt cx="1714500" cy="304800"/>
            </a:xfrm>
          </p:grpSpPr>
          <p:sp>
            <p:nvSpPr>
              <p:cNvPr id="396" name="Google Shape;396;p21"/>
              <p:cNvSpPr/>
              <p:nvPr/>
            </p:nvSpPr>
            <p:spPr>
              <a:xfrm>
                <a:off x="0" y="0"/>
                <a:ext cx="1714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33A65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397" name="Google Shape;397;p21"/>
              <p:cNvSpPr txBox="1"/>
              <p:nvPr/>
            </p:nvSpPr>
            <p:spPr>
              <a:xfrm>
                <a:off x="76200" y="66675"/>
                <a:ext cx="1562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True Positive (TP)</a:t>
                </a:r>
                <a:endParaRPr sz="9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98" name="Google Shape;398;p21"/>
            <p:cNvGrpSpPr/>
            <p:nvPr/>
          </p:nvGrpSpPr>
          <p:grpSpPr>
            <a:xfrm>
              <a:off x="2000250" y="361950"/>
              <a:ext cx="1714500" cy="304800"/>
              <a:chOff x="0" y="0"/>
              <a:chExt cx="1714500" cy="304800"/>
            </a:xfrm>
          </p:grpSpPr>
          <p:sp>
            <p:nvSpPr>
              <p:cNvPr id="399" name="Google Shape;399;p21"/>
              <p:cNvSpPr/>
              <p:nvPr/>
            </p:nvSpPr>
            <p:spPr>
              <a:xfrm>
                <a:off x="0" y="0"/>
                <a:ext cx="1714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B56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400" name="Google Shape;400;p21"/>
              <p:cNvSpPr txBox="1"/>
              <p:nvPr/>
            </p:nvSpPr>
            <p:spPr>
              <a:xfrm>
                <a:off x="76200" y="66675"/>
                <a:ext cx="1562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False Positive (FP)</a:t>
                </a:r>
                <a:endParaRPr sz="9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01" name="Google Shape;401;p21"/>
            <p:cNvGrpSpPr/>
            <p:nvPr/>
          </p:nvGrpSpPr>
          <p:grpSpPr>
            <a:xfrm>
              <a:off x="3848100" y="361950"/>
              <a:ext cx="1714500" cy="304800"/>
              <a:chOff x="0" y="0"/>
              <a:chExt cx="1714500" cy="304800"/>
            </a:xfrm>
          </p:grpSpPr>
          <p:sp>
            <p:nvSpPr>
              <p:cNvPr id="402" name="Google Shape;402;p21"/>
              <p:cNvSpPr/>
              <p:nvPr/>
            </p:nvSpPr>
            <p:spPr>
              <a:xfrm>
                <a:off x="0" y="0"/>
                <a:ext cx="1714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E7443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403" name="Google Shape;403;p21"/>
              <p:cNvSpPr txBox="1"/>
              <p:nvPr/>
            </p:nvSpPr>
            <p:spPr>
              <a:xfrm>
                <a:off x="76200" y="66675"/>
                <a:ext cx="1562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False Negative (FN)</a:t>
                </a:r>
                <a:endParaRPr sz="9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04" name="Google Shape;404;p21"/>
            <p:cNvGrpSpPr/>
            <p:nvPr/>
          </p:nvGrpSpPr>
          <p:grpSpPr>
            <a:xfrm>
              <a:off x="5695950" y="361950"/>
              <a:ext cx="1714500" cy="304800"/>
              <a:chOff x="0" y="0"/>
              <a:chExt cx="1714500" cy="304800"/>
            </a:xfrm>
          </p:grpSpPr>
          <p:sp>
            <p:nvSpPr>
              <p:cNvPr id="405" name="Google Shape;405;p21"/>
              <p:cNvSpPr/>
              <p:nvPr/>
            </p:nvSpPr>
            <p:spPr>
              <a:xfrm>
                <a:off x="0" y="0"/>
                <a:ext cx="17145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3984F1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406" name="Google Shape;406;p21"/>
              <p:cNvSpPr txBox="1"/>
              <p:nvPr/>
            </p:nvSpPr>
            <p:spPr>
              <a:xfrm>
                <a:off x="76200" y="66675"/>
                <a:ext cx="15621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 b="1">
                    <a:solidFill>
                      <a:srgbClr val="FFFFFF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True Negative (TN)</a:t>
                </a:r>
                <a:endParaRPr sz="950" b="1">
                  <a:solidFill>
                    <a:srgbClr val="FFFFFF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07" name="Google Shape;407;p21"/>
            <p:cNvSpPr txBox="1"/>
            <p:nvPr/>
          </p:nvSpPr>
          <p:spPr>
            <a:xfrm>
              <a:off x="152400" y="762000"/>
              <a:ext cx="73914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• Red Bounding Box:</a:t>
              </a:r>
              <a:r>
                <a:rPr lang="en" sz="105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Immediate visual indicator flagging an anomaly frame detected by the model.</a:t>
              </a:r>
              <a:endParaRPr sz="105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1">
                  <a:solidFill>
                    <a:srgbClr val="33A65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• Green Text / Status:</a:t>
              </a:r>
              <a:r>
                <a:rPr lang="en" sz="105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Visual indicator denoting a normal, non-anomalous surveillance frame.</a:t>
              </a:r>
              <a:endParaRPr sz="105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55;p21">
            <a:extLst>
              <a:ext uri="{FF2B5EF4-FFF2-40B4-BE49-F238E27FC236}">
                <a16:creationId xmlns:a16="http://schemas.microsoft.com/office/drawing/2014/main" id="{61AC9D8F-42DF-D5A8-07A3-D1404387BCDA}"/>
              </a:ext>
            </a:extLst>
          </p:cNvPr>
          <p:cNvSpPr txBox="1"/>
          <p:nvPr/>
        </p:nvSpPr>
        <p:spPr>
          <a:xfrm>
            <a:off x="723900" y="61479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Detection Interface &amp; Visual Layout (Normal Video)</a:t>
            </a:r>
            <a:endParaRPr sz="24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731A7-206D-EA58-9F90-4D1D8C806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0" y="1217468"/>
            <a:ext cx="8572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1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24A7A4-BE32-7ACA-F612-B3294B568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0" y="1217468"/>
            <a:ext cx="8572500" cy="3429000"/>
          </a:xfrm>
          <a:prstGeom prst="rect">
            <a:avLst/>
          </a:prstGeom>
        </p:spPr>
      </p:pic>
      <p:sp>
        <p:nvSpPr>
          <p:cNvPr id="5" name="Google Shape;355;p21">
            <a:extLst>
              <a:ext uri="{FF2B5EF4-FFF2-40B4-BE49-F238E27FC236}">
                <a16:creationId xmlns:a16="http://schemas.microsoft.com/office/drawing/2014/main" id="{A9A36175-9FB2-ED81-C5D7-7A8AAAE62190}"/>
              </a:ext>
            </a:extLst>
          </p:cNvPr>
          <p:cNvSpPr txBox="1"/>
          <p:nvPr/>
        </p:nvSpPr>
        <p:spPr>
          <a:xfrm>
            <a:off x="723900" y="61479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Detection Interface &amp; Visual Layout (Anomalous Video)</a:t>
            </a:r>
            <a:endParaRPr sz="20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488360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9E484-4821-17A2-812E-84583361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28" y="1648691"/>
            <a:ext cx="8186943" cy="2592532"/>
          </a:xfrm>
          <a:prstGeom prst="rect">
            <a:avLst/>
          </a:prstGeom>
        </p:spPr>
      </p:pic>
      <p:sp>
        <p:nvSpPr>
          <p:cNvPr id="5" name="Google Shape;355;p21">
            <a:extLst>
              <a:ext uri="{FF2B5EF4-FFF2-40B4-BE49-F238E27FC236}">
                <a16:creationId xmlns:a16="http://schemas.microsoft.com/office/drawing/2014/main" id="{063E2719-4454-A26F-2A5B-58B232ABB5B6}"/>
              </a:ext>
            </a:extLst>
          </p:cNvPr>
          <p:cNvSpPr txBox="1"/>
          <p:nvPr/>
        </p:nvSpPr>
        <p:spPr>
          <a:xfrm>
            <a:off x="723900" y="61479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Detection Interface &amp; Visual Layout (on actual dataset)</a:t>
            </a:r>
            <a:endParaRPr sz="20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872265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7B55D-5384-5998-72B9-98DDDE266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9" y="1420091"/>
            <a:ext cx="8091920" cy="3236768"/>
          </a:xfrm>
          <a:prstGeom prst="rect">
            <a:avLst/>
          </a:prstGeom>
        </p:spPr>
      </p:pic>
      <p:sp>
        <p:nvSpPr>
          <p:cNvPr id="5" name="Google Shape;355;p21">
            <a:extLst>
              <a:ext uri="{FF2B5EF4-FFF2-40B4-BE49-F238E27FC236}">
                <a16:creationId xmlns:a16="http://schemas.microsoft.com/office/drawing/2014/main" id="{10B38749-D62F-2157-7790-F0A48406E380}"/>
              </a:ext>
            </a:extLst>
          </p:cNvPr>
          <p:cNvSpPr txBox="1"/>
          <p:nvPr/>
        </p:nvSpPr>
        <p:spPr>
          <a:xfrm>
            <a:off x="723900" y="61479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Anomaly score over time (on actual dataset)</a:t>
            </a:r>
            <a:endParaRPr sz="20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219437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9734-073A-2C0A-B0EB-F1A973EE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55;p21">
            <a:extLst>
              <a:ext uri="{FF2B5EF4-FFF2-40B4-BE49-F238E27FC236}">
                <a16:creationId xmlns:a16="http://schemas.microsoft.com/office/drawing/2014/main" id="{37B47675-5F6E-9333-A084-E5A248DE51E7}"/>
              </a:ext>
            </a:extLst>
          </p:cNvPr>
          <p:cNvSpPr txBox="1"/>
          <p:nvPr/>
        </p:nvSpPr>
        <p:spPr>
          <a:xfrm>
            <a:off x="723900" y="61479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Frame Level anomaly score over time (on actual dataset)</a:t>
            </a:r>
            <a:endParaRPr sz="20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AE500-00D3-4AE9-87D9-68006A11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604242"/>
            <a:ext cx="8181109" cy="272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224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D246C7-A7CE-7CB6-F7F1-6E87058CB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5" y="1398270"/>
            <a:ext cx="8617527" cy="3016134"/>
          </a:xfrm>
          <a:prstGeom prst="rect">
            <a:avLst/>
          </a:prstGeom>
        </p:spPr>
      </p:pic>
      <p:sp>
        <p:nvSpPr>
          <p:cNvPr id="5" name="Google Shape;355;p21">
            <a:extLst>
              <a:ext uri="{FF2B5EF4-FFF2-40B4-BE49-F238E27FC236}">
                <a16:creationId xmlns:a16="http://schemas.microsoft.com/office/drawing/2014/main" id="{209F25EC-0F1D-C263-3DE9-E54AB6CF53D0}"/>
              </a:ext>
            </a:extLst>
          </p:cNvPr>
          <p:cNvSpPr txBox="1"/>
          <p:nvPr/>
        </p:nvSpPr>
        <p:spPr>
          <a:xfrm>
            <a:off x="723900" y="61479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Detections (on actual dataset)</a:t>
            </a:r>
            <a:endParaRPr sz="20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</p:spTree>
    <p:extLst>
      <p:ext uri="{BB962C8B-B14F-4D97-AF65-F5344CB8AC3E}">
        <p14:creationId xmlns:p14="http://schemas.microsoft.com/office/powerpoint/2010/main" val="1520554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22"/>
          <p:cNvGrpSpPr/>
          <p:nvPr/>
        </p:nvGrpSpPr>
        <p:grpSpPr>
          <a:xfrm>
            <a:off x="723900" y="1143000"/>
            <a:ext cx="748538" cy="45600"/>
            <a:chOff x="0" y="0"/>
            <a:chExt cx="748538" cy="45600"/>
          </a:xfrm>
        </p:grpSpPr>
        <p:sp>
          <p:nvSpPr>
            <p:cNvPr id="415" name="Google Shape;415;p22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417" name="Google Shape;417;p22"/>
          <p:cNvSpPr txBox="1"/>
          <p:nvPr/>
        </p:nvSpPr>
        <p:spPr>
          <a:xfrm>
            <a:off x="723900" y="581025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Evaluation on UCSD Ped2 Test Set</a:t>
            </a:r>
            <a:endParaRPr sz="26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723900" y="1333500"/>
            <a:ext cx="3524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Confusion Matrix</a:t>
            </a:r>
            <a:endParaRPr sz="1500" b="1">
              <a:solidFill>
                <a:srgbClr val="1C3678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</p:txBody>
      </p:sp>
      <p:grpSp>
        <p:nvGrpSpPr>
          <p:cNvPr id="419" name="Google Shape;419;p22"/>
          <p:cNvGrpSpPr/>
          <p:nvPr/>
        </p:nvGrpSpPr>
        <p:grpSpPr>
          <a:xfrm>
            <a:off x="723900" y="1619250"/>
            <a:ext cx="3419550" cy="1524075"/>
            <a:chOff x="723900" y="1619250"/>
            <a:chExt cx="3419550" cy="1524075"/>
          </a:xfrm>
        </p:grpSpPr>
        <p:sp>
          <p:nvSpPr>
            <p:cNvPr id="420" name="Google Shape;420;p22"/>
            <p:cNvSpPr txBox="1"/>
            <p:nvPr/>
          </p:nvSpPr>
          <p:spPr>
            <a:xfrm>
              <a:off x="1714500" y="1619250"/>
              <a:ext cx="11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Actual Positive</a:t>
              </a:r>
              <a:endParaRPr sz="10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21" name="Google Shape;421;p22"/>
            <p:cNvSpPr txBox="1"/>
            <p:nvPr/>
          </p:nvSpPr>
          <p:spPr>
            <a:xfrm>
              <a:off x="2952750" y="1619250"/>
              <a:ext cx="1190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Actual Negative</a:t>
              </a:r>
              <a:endParaRPr sz="10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22" name="Google Shape;422;p22"/>
            <p:cNvSpPr txBox="1"/>
            <p:nvPr/>
          </p:nvSpPr>
          <p:spPr>
            <a:xfrm>
              <a:off x="723900" y="1857375"/>
              <a:ext cx="904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Pred.</a:t>
              </a:r>
              <a:b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</a:br>
              <a: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Positive</a:t>
              </a:r>
              <a:endParaRPr sz="10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23" name="Google Shape;423;p22"/>
            <p:cNvSpPr txBox="1"/>
            <p:nvPr/>
          </p:nvSpPr>
          <p:spPr>
            <a:xfrm>
              <a:off x="723900" y="2524125"/>
              <a:ext cx="9048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Pred.</a:t>
              </a:r>
              <a:b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</a:br>
              <a:r>
                <a:rPr lang="en" sz="10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Negative</a:t>
              </a:r>
              <a:endParaRPr sz="10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1714500" y="1857375"/>
              <a:ext cx="1190700" cy="619200"/>
            </a:xfrm>
            <a:prstGeom prst="roundRect">
              <a:avLst>
                <a:gd name="adj" fmla="val 6153"/>
              </a:avLst>
            </a:prstGeom>
            <a:solidFill>
              <a:srgbClr val="1A9988">
                <a:alpha val="12000"/>
              </a:srgbClr>
            </a:solidFill>
            <a:ln w="14300" cap="flat" cmpd="sng">
              <a:solidFill>
                <a:srgbClr val="1A99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25" name="Google Shape;425;p22"/>
            <p:cNvSpPr txBox="1"/>
            <p:nvPr/>
          </p:nvSpPr>
          <p:spPr>
            <a:xfrm>
              <a:off x="1714500" y="1885950"/>
              <a:ext cx="11907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358</a:t>
              </a:r>
              <a:endParaRPr sz="1800" b="1">
                <a:solidFill>
                  <a:srgbClr val="1A998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6" name="Google Shape;426;p22"/>
            <p:cNvSpPr txBox="1"/>
            <p:nvPr/>
          </p:nvSpPr>
          <p:spPr>
            <a:xfrm>
              <a:off x="1714500" y="2219325"/>
              <a:ext cx="1190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True Positive (TP)</a:t>
              </a:r>
              <a:endParaRPr sz="9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2952750" y="1857375"/>
              <a:ext cx="1190700" cy="619200"/>
            </a:xfrm>
            <a:prstGeom prst="roundRect">
              <a:avLst>
                <a:gd name="adj" fmla="val 6153"/>
              </a:avLst>
            </a:prstGeom>
            <a:solidFill>
              <a:srgbClr val="E74435">
                <a:alpha val="8000"/>
              </a:srgbClr>
            </a:solidFill>
            <a:ln w="9525" cap="flat" cmpd="sng">
              <a:solidFill>
                <a:srgbClr val="E744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28" name="Google Shape;428;p22"/>
            <p:cNvSpPr txBox="1"/>
            <p:nvPr/>
          </p:nvSpPr>
          <p:spPr>
            <a:xfrm>
              <a:off x="2952750" y="1885950"/>
              <a:ext cx="11907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74435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28</a:t>
              </a:r>
              <a:endParaRPr sz="1800" b="1">
                <a:solidFill>
                  <a:srgbClr val="E74435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29" name="Google Shape;429;p22"/>
            <p:cNvSpPr txBox="1"/>
            <p:nvPr/>
          </p:nvSpPr>
          <p:spPr>
            <a:xfrm>
              <a:off x="2952750" y="2219325"/>
              <a:ext cx="1190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False Positive (FP)</a:t>
              </a:r>
              <a:endParaRPr sz="9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1714500" y="2524125"/>
              <a:ext cx="1190700" cy="619200"/>
            </a:xfrm>
            <a:prstGeom prst="roundRect">
              <a:avLst>
                <a:gd name="adj" fmla="val 6153"/>
              </a:avLst>
            </a:prstGeom>
            <a:solidFill>
              <a:srgbClr val="E74435">
                <a:alpha val="8000"/>
              </a:srgbClr>
            </a:solidFill>
            <a:ln w="9525" cap="flat" cmpd="sng">
              <a:solidFill>
                <a:srgbClr val="E744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31" name="Google Shape;431;p22"/>
            <p:cNvSpPr txBox="1"/>
            <p:nvPr/>
          </p:nvSpPr>
          <p:spPr>
            <a:xfrm>
              <a:off x="1714500" y="2552700"/>
              <a:ext cx="11907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E74435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1290</a:t>
              </a:r>
              <a:endParaRPr sz="1800" b="1">
                <a:solidFill>
                  <a:srgbClr val="E74435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32" name="Google Shape;432;p22"/>
            <p:cNvSpPr txBox="1"/>
            <p:nvPr/>
          </p:nvSpPr>
          <p:spPr>
            <a:xfrm>
              <a:off x="1714500" y="2886075"/>
              <a:ext cx="1190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False Negative (FN)</a:t>
              </a:r>
              <a:endParaRPr sz="9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2952750" y="2524125"/>
              <a:ext cx="1190700" cy="619200"/>
            </a:xfrm>
            <a:prstGeom prst="roundRect">
              <a:avLst>
                <a:gd name="adj" fmla="val 6153"/>
              </a:avLst>
            </a:prstGeom>
            <a:solidFill>
              <a:srgbClr val="E9EDEE"/>
            </a:solidFill>
            <a:ln w="9525" cap="flat" cmpd="sng">
              <a:solidFill>
                <a:srgbClr val="B0BE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34" name="Google Shape;434;p22"/>
            <p:cNvSpPr txBox="1"/>
            <p:nvPr/>
          </p:nvSpPr>
          <p:spPr>
            <a:xfrm>
              <a:off x="2952750" y="2552700"/>
              <a:ext cx="11907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334</a:t>
              </a:r>
              <a:endParaRPr sz="18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35" name="Google Shape;435;p22"/>
            <p:cNvSpPr txBox="1"/>
            <p:nvPr/>
          </p:nvSpPr>
          <p:spPr>
            <a:xfrm>
              <a:off x="2952750" y="2886075"/>
              <a:ext cx="1190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True Negative (TN)</a:t>
              </a:r>
              <a:endParaRPr sz="9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436" name="Google Shape;436;p22"/>
          <p:cNvSpPr txBox="1"/>
          <p:nvPr/>
        </p:nvSpPr>
        <p:spPr>
          <a:xfrm>
            <a:off x="723900" y="3333750"/>
            <a:ext cx="3429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Production Focus:</a:t>
            </a:r>
            <a:r>
              <a:rPr lang="en" sz="11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 High precision was explicitly prioritized for deployment to maintain analyst trust and minimize false alarm fatigue.</a:t>
            </a:r>
            <a:endParaRPr sz="1100" b="0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Metric Selection:</a:t>
            </a:r>
            <a:r>
              <a:rPr lang="en" sz="11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 AUC-ROC was chosen as a standard threshold-free evaluation metric across operating points.</a:t>
            </a:r>
            <a:endParaRPr sz="1100" b="0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4572000" y="133350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Key Metric Summary</a:t>
            </a:r>
            <a:endParaRPr sz="1500" b="1">
              <a:solidFill>
                <a:srgbClr val="1C3678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</p:txBody>
      </p:sp>
      <p:grpSp>
        <p:nvGrpSpPr>
          <p:cNvPr id="438" name="Google Shape;438;p22"/>
          <p:cNvGrpSpPr/>
          <p:nvPr/>
        </p:nvGrpSpPr>
        <p:grpSpPr>
          <a:xfrm>
            <a:off x="4572000" y="1666875"/>
            <a:ext cx="1809600" cy="809700"/>
            <a:chOff x="4572000" y="1666875"/>
            <a:chExt cx="1809600" cy="809700"/>
          </a:xfrm>
        </p:grpSpPr>
        <p:sp>
          <p:nvSpPr>
            <p:cNvPr id="439" name="Google Shape;439;p22"/>
            <p:cNvSpPr/>
            <p:nvPr/>
          </p:nvSpPr>
          <p:spPr>
            <a:xfrm>
              <a:off x="4572000" y="1666875"/>
              <a:ext cx="1809600" cy="8097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19050" cap="flat" cmpd="sng">
              <a:solidFill>
                <a:srgbClr val="1A99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4572000" y="1666875"/>
              <a:ext cx="1809600" cy="47700"/>
            </a:xfrm>
            <a:prstGeom prst="roundRect">
              <a:avLst>
                <a:gd name="adj" fmla="val 4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41" name="Google Shape;441;p22"/>
            <p:cNvSpPr txBox="1"/>
            <p:nvPr/>
          </p:nvSpPr>
          <p:spPr>
            <a:xfrm>
              <a:off x="4686300" y="1781175"/>
              <a:ext cx="1581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Precision (Prioritized)</a:t>
              </a:r>
              <a:endParaRPr sz="1100" b="1">
                <a:solidFill>
                  <a:srgbClr val="1A998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42" name="Google Shape;442;p22"/>
            <p:cNvSpPr txBox="1"/>
            <p:nvPr/>
          </p:nvSpPr>
          <p:spPr>
            <a:xfrm>
              <a:off x="4686300" y="2000250"/>
              <a:ext cx="1581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0.927</a:t>
              </a:r>
              <a:endParaRPr sz="2400" b="1">
                <a:solidFill>
                  <a:srgbClr val="1A998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43" name="Google Shape;443;p22"/>
          <p:cNvGrpSpPr/>
          <p:nvPr/>
        </p:nvGrpSpPr>
        <p:grpSpPr>
          <a:xfrm>
            <a:off x="6524625" y="1666875"/>
            <a:ext cx="1857300" cy="809700"/>
            <a:chOff x="6524625" y="1666875"/>
            <a:chExt cx="1857300" cy="809700"/>
          </a:xfrm>
        </p:grpSpPr>
        <p:sp>
          <p:nvSpPr>
            <p:cNvPr id="444" name="Google Shape;444;p22"/>
            <p:cNvSpPr/>
            <p:nvPr/>
          </p:nvSpPr>
          <p:spPr>
            <a:xfrm>
              <a:off x="6524625" y="1666875"/>
              <a:ext cx="1857300" cy="8097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45" name="Google Shape;445;p22"/>
            <p:cNvSpPr txBox="1"/>
            <p:nvPr/>
          </p:nvSpPr>
          <p:spPr>
            <a:xfrm>
              <a:off x="6638925" y="1781175"/>
              <a:ext cx="16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595959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Recall</a:t>
              </a:r>
              <a:endParaRPr sz="1100" b="1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46" name="Google Shape;446;p22"/>
            <p:cNvSpPr txBox="1"/>
            <p:nvPr/>
          </p:nvSpPr>
          <p:spPr>
            <a:xfrm>
              <a:off x="6638925" y="2000250"/>
              <a:ext cx="162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0.217</a:t>
              </a:r>
              <a:endParaRPr sz="24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47" name="Google Shape;447;p22"/>
          <p:cNvGrpSpPr/>
          <p:nvPr/>
        </p:nvGrpSpPr>
        <p:grpSpPr>
          <a:xfrm>
            <a:off x="4572000" y="2571750"/>
            <a:ext cx="1809600" cy="809700"/>
            <a:chOff x="4572000" y="2571750"/>
            <a:chExt cx="1809600" cy="809700"/>
          </a:xfrm>
        </p:grpSpPr>
        <p:sp>
          <p:nvSpPr>
            <p:cNvPr id="448" name="Google Shape;448;p22"/>
            <p:cNvSpPr/>
            <p:nvPr/>
          </p:nvSpPr>
          <p:spPr>
            <a:xfrm>
              <a:off x="4572000" y="2571750"/>
              <a:ext cx="1809600" cy="8097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14300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49" name="Google Shape;449;p22"/>
            <p:cNvSpPr txBox="1"/>
            <p:nvPr/>
          </p:nvSpPr>
          <p:spPr>
            <a:xfrm>
              <a:off x="4686300" y="2686050"/>
              <a:ext cx="1581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595959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F1 Score</a:t>
              </a:r>
              <a:endParaRPr sz="1100" b="1">
                <a:solidFill>
                  <a:srgbClr val="595959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0" name="Google Shape;450;p22"/>
            <p:cNvSpPr txBox="1"/>
            <p:nvPr/>
          </p:nvSpPr>
          <p:spPr>
            <a:xfrm>
              <a:off x="4686300" y="2905125"/>
              <a:ext cx="1581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0.352</a:t>
              </a:r>
              <a:endParaRPr sz="24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51" name="Google Shape;451;p22"/>
          <p:cNvGrpSpPr/>
          <p:nvPr/>
        </p:nvGrpSpPr>
        <p:grpSpPr>
          <a:xfrm>
            <a:off x="6524625" y="2571750"/>
            <a:ext cx="1857300" cy="809700"/>
            <a:chOff x="6524625" y="2571750"/>
            <a:chExt cx="1857300" cy="809700"/>
          </a:xfrm>
        </p:grpSpPr>
        <p:sp>
          <p:nvSpPr>
            <p:cNvPr id="452" name="Google Shape;452;p22"/>
            <p:cNvSpPr/>
            <p:nvPr/>
          </p:nvSpPr>
          <p:spPr>
            <a:xfrm>
              <a:off x="6524625" y="2571750"/>
              <a:ext cx="1857300" cy="809700"/>
            </a:xfrm>
            <a:prstGeom prst="roundRect">
              <a:avLst>
                <a:gd name="adj" fmla="val 4705"/>
              </a:avLst>
            </a:prstGeom>
            <a:solidFill>
              <a:srgbClr val="FFFFFF"/>
            </a:solidFill>
            <a:ln w="14300" cap="flat" cmpd="sng">
              <a:solidFill>
                <a:srgbClr val="EB5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6524625" y="2571750"/>
              <a:ext cx="1857300" cy="47700"/>
            </a:xfrm>
            <a:prstGeom prst="roundRect">
              <a:avLst>
                <a:gd name="adj" fmla="val 4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54" name="Google Shape;454;p22"/>
            <p:cNvSpPr txBox="1"/>
            <p:nvPr/>
          </p:nvSpPr>
          <p:spPr>
            <a:xfrm>
              <a:off x="6638925" y="2686050"/>
              <a:ext cx="16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EB560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AUC-ROC Metric</a:t>
              </a:r>
              <a:endParaRPr sz="1100" b="1">
                <a:solidFill>
                  <a:srgbClr val="EB5600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5" name="Google Shape;455;p22"/>
            <p:cNvSpPr txBox="1"/>
            <p:nvPr/>
          </p:nvSpPr>
          <p:spPr>
            <a:xfrm>
              <a:off x="6638925" y="2905125"/>
              <a:ext cx="1628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EB560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0.6428</a:t>
              </a:r>
              <a:endParaRPr sz="2400" b="1">
                <a:solidFill>
                  <a:srgbClr val="EB5600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456" name="Google Shape;456;p22"/>
          <p:cNvGrpSpPr/>
          <p:nvPr/>
        </p:nvGrpSpPr>
        <p:grpSpPr>
          <a:xfrm>
            <a:off x="4572000" y="3524250"/>
            <a:ext cx="3810000" cy="1047900"/>
            <a:chOff x="4572000" y="3524250"/>
            <a:chExt cx="3810000" cy="1047900"/>
          </a:xfrm>
        </p:grpSpPr>
        <p:sp>
          <p:nvSpPr>
            <p:cNvPr id="457" name="Google Shape;457;p22"/>
            <p:cNvSpPr/>
            <p:nvPr/>
          </p:nvSpPr>
          <p:spPr>
            <a:xfrm>
              <a:off x="4572000" y="3524250"/>
              <a:ext cx="3810000" cy="1047900"/>
            </a:xfrm>
            <a:prstGeom prst="roundRect">
              <a:avLst>
                <a:gd name="adj" fmla="val 3636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4572000" y="3524250"/>
              <a:ext cx="47700" cy="1047900"/>
            </a:xfrm>
            <a:prstGeom prst="roundRect">
              <a:avLst>
                <a:gd name="adj" fmla="val 40000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59" name="Google Shape;459;p22"/>
            <p:cNvSpPr txBox="1"/>
            <p:nvPr/>
          </p:nvSpPr>
          <p:spPr>
            <a:xfrm>
              <a:off x="4743450" y="3638550"/>
              <a:ext cx="34956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Benchmark Context (SOTA Comparison)</a:t>
              </a:r>
              <a:endParaRPr sz="1018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While the current model achieves an AUC-ROC of </a:t>
              </a:r>
              <a:r>
                <a:rPr lang="en" sz="1018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0.6428</a:t>
              </a: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, state-of-the-art (SOTA) models such as </a:t>
              </a:r>
              <a:r>
                <a:rPr lang="en" sz="1018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PatchCore</a:t>
              </a: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attain approximately </a:t>
              </a:r>
              <a:r>
                <a:rPr lang="en" sz="1018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0.95</a:t>
              </a: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on similar evaluation benchmarks.</a:t>
              </a:r>
              <a:endParaRPr sz="1018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 txBox="1"/>
          <p:nvPr/>
        </p:nvSpPr>
        <p:spPr>
          <a:xfrm>
            <a:off x="723900" y="581025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900"/>
              </a:spcAft>
              <a:buNone/>
            </a:pPr>
            <a:r>
              <a:rPr lang="en" sz="2600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Evaluation &amp; Deployment Strategy</a:t>
            </a:r>
            <a:endParaRPr sz="2600" b="1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471" name="Google Shape;471;p23"/>
          <p:cNvGrpSpPr/>
          <p:nvPr/>
        </p:nvGrpSpPr>
        <p:grpSpPr>
          <a:xfrm>
            <a:off x="723900" y="1381125"/>
            <a:ext cx="2381400" cy="2905200"/>
            <a:chOff x="723900" y="1381125"/>
            <a:chExt cx="2381400" cy="2905200"/>
          </a:xfrm>
        </p:grpSpPr>
        <p:sp>
          <p:nvSpPr>
            <p:cNvPr id="472" name="Google Shape;472;p23"/>
            <p:cNvSpPr/>
            <p:nvPr/>
          </p:nvSpPr>
          <p:spPr>
            <a:xfrm>
              <a:off x="723900" y="1381125"/>
              <a:ext cx="2381400" cy="2905200"/>
            </a:xfrm>
            <a:prstGeom prst="roundRect">
              <a:avLst>
                <a:gd name="adj" fmla="val 1600"/>
              </a:avLst>
            </a:prstGeom>
            <a:solidFill>
              <a:srgbClr val="F8FA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723900" y="1381125"/>
              <a:ext cx="2381400" cy="47700"/>
            </a:xfrm>
            <a:prstGeom prst="roundRect">
              <a:avLst>
                <a:gd name="adj" fmla="val 4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74" name="Google Shape;474;p23"/>
            <p:cNvSpPr txBox="1"/>
            <p:nvPr/>
          </p:nvSpPr>
          <p:spPr>
            <a:xfrm>
              <a:off x="838200" y="1524000"/>
              <a:ext cx="2152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80" b="1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Class Imbalance</a:t>
              </a:r>
              <a:endParaRPr sz="1480" b="1">
                <a:solidFill>
                  <a:srgbClr val="1A998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Severe Imbalance</a:t>
              </a:r>
              <a:endParaRPr sz="1203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Test set features severe class imbalance, with 82% of frames being anomalous.</a:t>
              </a:r>
              <a:endParaRPr sz="1018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One-Class Model</a:t>
              </a:r>
              <a:endParaRPr sz="1203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Trained exclusively on normal data, making oversampling techniques like SMOTE unnecessary.</a:t>
              </a:r>
              <a:endParaRPr sz="1018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Threshold Control</a:t>
              </a:r>
              <a:endParaRPr sz="1203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18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The precision-recall tradeoff is strictly controlled by the threshold percentile.</a:t>
              </a:r>
              <a:endParaRPr sz="1018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75" name="Google Shape;475;p23"/>
          <p:cNvGrpSpPr/>
          <p:nvPr/>
        </p:nvGrpSpPr>
        <p:grpSpPr>
          <a:xfrm>
            <a:off x="3381375" y="1381125"/>
            <a:ext cx="2381400" cy="2905200"/>
            <a:chOff x="3381375" y="1381125"/>
            <a:chExt cx="2381400" cy="2905200"/>
          </a:xfrm>
        </p:grpSpPr>
        <p:sp>
          <p:nvSpPr>
            <p:cNvPr id="476" name="Google Shape;476;p23"/>
            <p:cNvSpPr/>
            <p:nvPr/>
          </p:nvSpPr>
          <p:spPr>
            <a:xfrm>
              <a:off x="3381375" y="1381125"/>
              <a:ext cx="2381400" cy="2905200"/>
            </a:xfrm>
            <a:prstGeom prst="roundRect">
              <a:avLst>
                <a:gd name="adj" fmla="val 1600"/>
              </a:avLst>
            </a:prstGeom>
            <a:solidFill>
              <a:srgbClr val="F8FA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3381375" y="1381125"/>
              <a:ext cx="2381400" cy="47700"/>
            </a:xfrm>
            <a:prstGeom prst="roundRect">
              <a:avLst>
                <a:gd name="adj" fmla="val 4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78" name="Google Shape;478;p23"/>
            <p:cNvSpPr txBox="1"/>
            <p:nvPr/>
          </p:nvSpPr>
          <p:spPr>
            <a:xfrm>
              <a:off x="3495675" y="1524000"/>
              <a:ext cx="2152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EB560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Streaming Latency</a:t>
              </a:r>
              <a:endParaRPr sz="1600" b="1">
                <a:solidFill>
                  <a:srgbClr val="EB560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EB560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&lt; 5 ms</a:t>
              </a:r>
              <a:endParaRPr sz="2200" b="1">
                <a:solidFill>
                  <a:srgbClr val="EB5600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Online per-frame GPU latency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Latency Budget</a:t>
              </a:r>
              <a:endParaRPr sz="13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Operates under 5 milliseconds on GPU, placing it well within the 33-millisecond budget.</a:t>
              </a:r>
              <a:endParaRPr sz="11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Real-Time Execution</a:t>
              </a:r>
              <a:endParaRPr sz="13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Designed for continuous online per-frame streaming processing.</a:t>
              </a:r>
              <a:endParaRPr sz="11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79" name="Google Shape;479;p23"/>
          <p:cNvGrpSpPr/>
          <p:nvPr/>
        </p:nvGrpSpPr>
        <p:grpSpPr>
          <a:xfrm>
            <a:off x="6038850" y="1381125"/>
            <a:ext cx="2381400" cy="2905200"/>
            <a:chOff x="6038850" y="1381125"/>
            <a:chExt cx="2381400" cy="2905200"/>
          </a:xfrm>
        </p:grpSpPr>
        <p:sp>
          <p:nvSpPr>
            <p:cNvPr id="480" name="Google Shape;480;p23"/>
            <p:cNvSpPr/>
            <p:nvPr/>
          </p:nvSpPr>
          <p:spPr>
            <a:xfrm>
              <a:off x="6038850" y="1381125"/>
              <a:ext cx="2381400" cy="2905200"/>
            </a:xfrm>
            <a:prstGeom prst="roundRect">
              <a:avLst>
                <a:gd name="adj" fmla="val 1600"/>
              </a:avLst>
            </a:prstGeom>
            <a:solidFill>
              <a:srgbClr val="F8FAFA"/>
            </a:solidFill>
            <a:ln w="9525" cap="flat" cmpd="sng">
              <a:solidFill>
                <a:srgbClr val="E0E0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6038850" y="1381125"/>
              <a:ext cx="2381400" cy="47700"/>
            </a:xfrm>
            <a:prstGeom prst="roundRect">
              <a:avLst>
                <a:gd name="adj" fmla="val 40000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82" name="Google Shape;482;p23"/>
            <p:cNvSpPr txBox="1"/>
            <p:nvPr/>
          </p:nvSpPr>
          <p:spPr>
            <a:xfrm>
              <a:off x="6153150" y="1524000"/>
              <a:ext cx="21528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Edge Efficiency</a:t>
              </a:r>
              <a:endParaRPr sz="1600" b="1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2 MB</a:t>
              </a:r>
              <a:endParaRPr sz="22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Lightweight model checkpoint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Edge Deployment</a:t>
              </a:r>
              <a:endParaRPr sz="13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Model checkpoint easily fits on edge devices like Jetson Nano.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Future Efficiency Levers</a:t>
              </a:r>
              <a:endParaRPr sz="13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2100" algn="l" rtl="0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Lato"/>
                <a:buChar char="●"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Batching &amp; FP16 inference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2100" algn="l" rtl="0">
                <a:spcBef>
                  <a:spcPts val="15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Lato"/>
                <a:buChar char="●"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TensorRT export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2100" algn="l" rtl="0">
                <a:spcBef>
                  <a:spcPts val="150"/>
                </a:spcBef>
                <a:spcAft>
                  <a:spcPts val="0"/>
                </a:spcAft>
                <a:buClr>
                  <a:srgbClr val="595959"/>
                </a:buClr>
                <a:buSzPts val="1000"/>
                <a:buFont typeface="Lato"/>
                <a:buChar char="●"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INT8 quantization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24"/>
          <p:cNvGrpSpPr/>
          <p:nvPr/>
        </p:nvGrpSpPr>
        <p:grpSpPr>
          <a:xfrm>
            <a:off x="723900" y="1069838"/>
            <a:ext cx="748538" cy="45600"/>
            <a:chOff x="0" y="0"/>
            <a:chExt cx="748538" cy="45600"/>
          </a:xfrm>
        </p:grpSpPr>
        <p:sp>
          <p:nvSpPr>
            <p:cNvPr id="492" name="Google Shape;492;p24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494" name="Google Shape;494;p24"/>
          <p:cNvSpPr txBox="1"/>
          <p:nvPr/>
        </p:nvSpPr>
        <p:spPr>
          <a:xfrm>
            <a:off x="723900" y="571500"/>
            <a:ext cx="7686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r>
              <a:rPr lang="en" sz="24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Proposed System Deployment Architecture</a:t>
            </a:r>
            <a:endParaRPr sz="24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495" name="Google Shape;495;p24"/>
          <p:cNvGrpSpPr/>
          <p:nvPr/>
        </p:nvGrpSpPr>
        <p:grpSpPr>
          <a:xfrm>
            <a:off x="723900" y="1314450"/>
            <a:ext cx="1381200" cy="1714500"/>
            <a:chOff x="0" y="0"/>
            <a:chExt cx="1381200" cy="1714500"/>
          </a:xfrm>
        </p:grpSpPr>
        <p:sp>
          <p:nvSpPr>
            <p:cNvPr id="496" name="Google Shape;496;p24"/>
            <p:cNvSpPr/>
            <p:nvPr/>
          </p:nvSpPr>
          <p:spPr>
            <a:xfrm>
              <a:off x="0" y="0"/>
              <a:ext cx="1381200" cy="1714500"/>
            </a:xfrm>
            <a:prstGeom prst="roundRect">
              <a:avLst>
                <a:gd name="adj" fmla="val 2758"/>
              </a:avLst>
            </a:prstGeom>
            <a:solidFill>
              <a:srgbClr val="E9EDEE"/>
            </a:solidFill>
            <a:ln w="19050" cap="flat" cmpd="sng">
              <a:solidFill>
                <a:srgbClr val="1A99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0" y="0"/>
              <a:ext cx="1381200" cy="266700"/>
            </a:xfrm>
            <a:prstGeom prst="roundRect">
              <a:avLst>
                <a:gd name="adj" fmla="val 14285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498" name="Google Shape;498;p24"/>
            <p:cNvSpPr txBox="1"/>
            <p:nvPr/>
          </p:nvSpPr>
          <p:spPr>
            <a:xfrm>
              <a:off x="76200" y="38100"/>
              <a:ext cx="1228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Edge Inference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99" name="Google Shape;499;p24"/>
            <p:cNvSpPr txBox="1"/>
            <p:nvPr/>
          </p:nvSpPr>
          <p:spPr>
            <a:xfrm>
              <a:off x="95250" y="342900"/>
              <a:ext cx="1190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1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Camera-Side Execution</a:t>
              </a:r>
              <a:endParaRPr sz="92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2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Models run directly at edge camera nodes.</a:t>
              </a:r>
              <a:endParaRPr sz="92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25" b="1" dirty="0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Hardware:</a:t>
              </a:r>
              <a:endParaRPr sz="925" b="1" dirty="0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2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• Jetson Nano</a:t>
              </a:r>
              <a:br>
                <a:rPr lang="en" sz="92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</a:br>
              <a:r>
                <a:rPr lang="en" sz="925" b="0" dirty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• Raspberry Pi 5</a:t>
              </a:r>
              <a:endParaRPr sz="925" b="0" dirty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00" name="Google Shape;500;p24"/>
          <p:cNvGrpSpPr/>
          <p:nvPr/>
        </p:nvGrpSpPr>
        <p:grpSpPr>
          <a:xfrm>
            <a:off x="2333625" y="1314450"/>
            <a:ext cx="1524000" cy="1714500"/>
            <a:chOff x="0" y="0"/>
            <a:chExt cx="1524000" cy="1714500"/>
          </a:xfrm>
        </p:grpSpPr>
        <p:sp>
          <p:nvSpPr>
            <p:cNvPr id="501" name="Google Shape;501;p24"/>
            <p:cNvSpPr/>
            <p:nvPr/>
          </p:nvSpPr>
          <p:spPr>
            <a:xfrm>
              <a:off x="0" y="0"/>
              <a:ext cx="1524000" cy="1714500"/>
            </a:xfrm>
            <a:prstGeom prst="roundRect">
              <a:avLst>
                <a:gd name="adj" fmla="val 2500"/>
              </a:avLst>
            </a:prstGeom>
            <a:solidFill>
              <a:srgbClr val="E9EDEE"/>
            </a:solidFill>
            <a:ln w="14300" cap="flat" cmpd="sng">
              <a:solidFill>
                <a:srgbClr val="1C36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0" y="0"/>
              <a:ext cx="1524000" cy="266700"/>
            </a:xfrm>
            <a:prstGeom prst="roundRect">
              <a:avLst>
                <a:gd name="adj" fmla="val 14285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03" name="Google Shape;503;p24"/>
            <p:cNvSpPr txBox="1"/>
            <p:nvPr/>
          </p:nvSpPr>
          <p:spPr>
            <a:xfrm>
              <a:off x="76200" y="38100"/>
              <a:ext cx="1371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FastAPI REST API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04" name="Google Shape;504;p24"/>
            <p:cNvSpPr txBox="1"/>
            <p:nvPr/>
          </p:nvSpPr>
          <p:spPr>
            <a:xfrm>
              <a:off x="95250" y="342900"/>
              <a:ext cx="1333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Serving Layer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Handles incoming streaming frames &amp; requests.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• Dynamic Batching for throughput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2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• Scene Statistics Caching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05" name="Google Shape;505;p24"/>
          <p:cNvGrpSpPr/>
          <p:nvPr/>
        </p:nvGrpSpPr>
        <p:grpSpPr>
          <a:xfrm>
            <a:off x="4086225" y="1314450"/>
            <a:ext cx="1381200" cy="1714500"/>
            <a:chOff x="0" y="0"/>
            <a:chExt cx="1381200" cy="1714500"/>
          </a:xfrm>
        </p:grpSpPr>
        <p:sp>
          <p:nvSpPr>
            <p:cNvPr id="506" name="Google Shape;506;p24"/>
            <p:cNvSpPr/>
            <p:nvPr/>
          </p:nvSpPr>
          <p:spPr>
            <a:xfrm>
              <a:off x="0" y="0"/>
              <a:ext cx="1381200" cy="1714500"/>
            </a:xfrm>
            <a:prstGeom prst="roundRect">
              <a:avLst>
                <a:gd name="adj" fmla="val 2758"/>
              </a:avLst>
            </a:prstGeom>
            <a:solidFill>
              <a:srgbClr val="E9EDEE"/>
            </a:solidFill>
            <a:ln w="14300" cap="flat" cmpd="sng">
              <a:solidFill>
                <a:srgbClr val="1C36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0" y="0"/>
              <a:ext cx="1381200" cy="266700"/>
            </a:xfrm>
            <a:prstGeom prst="roundRect">
              <a:avLst>
                <a:gd name="adj" fmla="val 14285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08" name="Google Shape;508;p24"/>
            <p:cNvSpPr txBox="1"/>
            <p:nvPr/>
          </p:nvSpPr>
          <p:spPr>
            <a:xfrm>
              <a:off x="76200" y="38100"/>
              <a:ext cx="1228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Kafka Alert Bus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09" name="Google Shape;509;p24"/>
            <p:cNvSpPr txBox="1"/>
            <p:nvPr/>
          </p:nvSpPr>
          <p:spPr>
            <a:xfrm>
              <a:off x="95250" y="342900"/>
              <a:ext cx="1190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25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Event Streaming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Real-time message broker for detected system alerts &amp; anomalies.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25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Decouples inference from downstream consumers.</a:t>
              </a:r>
              <a:endParaRPr sz="925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10" name="Google Shape;510;p24"/>
          <p:cNvGrpSpPr/>
          <p:nvPr/>
        </p:nvGrpSpPr>
        <p:grpSpPr>
          <a:xfrm>
            <a:off x="5695950" y="1314450"/>
            <a:ext cx="1381200" cy="1714500"/>
            <a:chOff x="0" y="0"/>
            <a:chExt cx="1381200" cy="1714500"/>
          </a:xfrm>
        </p:grpSpPr>
        <p:sp>
          <p:nvSpPr>
            <p:cNvPr id="511" name="Google Shape;511;p24"/>
            <p:cNvSpPr/>
            <p:nvPr/>
          </p:nvSpPr>
          <p:spPr>
            <a:xfrm>
              <a:off x="0" y="0"/>
              <a:ext cx="1381200" cy="1714500"/>
            </a:xfrm>
            <a:prstGeom prst="roundRect">
              <a:avLst>
                <a:gd name="adj" fmla="val 2758"/>
              </a:avLst>
            </a:prstGeom>
            <a:solidFill>
              <a:srgbClr val="E9EDEE"/>
            </a:solidFill>
            <a:ln w="14300" cap="flat" cmpd="sng">
              <a:solidFill>
                <a:srgbClr val="1C36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0" y="0"/>
              <a:ext cx="1381200" cy="266700"/>
            </a:xfrm>
            <a:prstGeom prst="roundRect">
              <a:avLst>
                <a:gd name="adj" fmla="val 14285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13" name="Google Shape;513;p24"/>
            <p:cNvSpPr txBox="1"/>
            <p:nvPr/>
          </p:nvSpPr>
          <p:spPr>
            <a:xfrm>
              <a:off x="76200" y="38100"/>
              <a:ext cx="1228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Grafana Dashboard</a:t>
              </a:r>
              <a:endParaRPr sz="1018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14" name="Google Shape;514;p24"/>
            <p:cNvSpPr txBox="1"/>
            <p:nvPr/>
          </p:nvSpPr>
          <p:spPr>
            <a:xfrm>
              <a:off x="95250" y="342900"/>
              <a:ext cx="11907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Live Telemetry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Real-time visual monitoring of detections, metrics &amp; stream health.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15" name="Google Shape;515;p24"/>
          <p:cNvGrpSpPr/>
          <p:nvPr/>
        </p:nvGrpSpPr>
        <p:grpSpPr>
          <a:xfrm>
            <a:off x="7305675" y="1314450"/>
            <a:ext cx="1104900" cy="1714500"/>
            <a:chOff x="0" y="0"/>
            <a:chExt cx="1104900" cy="1714500"/>
          </a:xfrm>
        </p:grpSpPr>
        <p:sp>
          <p:nvSpPr>
            <p:cNvPr id="516" name="Google Shape;516;p24"/>
            <p:cNvSpPr/>
            <p:nvPr/>
          </p:nvSpPr>
          <p:spPr>
            <a:xfrm>
              <a:off x="0" y="0"/>
              <a:ext cx="1104900" cy="1714500"/>
            </a:xfrm>
            <a:prstGeom prst="roundRect">
              <a:avLst>
                <a:gd name="adj" fmla="val 3448"/>
              </a:avLst>
            </a:prstGeom>
            <a:solidFill>
              <a:srgbClr val="E9EDEE"/>
            </a:solidFill>
            <a:ln w="19050" cap="flat" cmpd="sng">
              <a:solidFill>
                <a:srgbClr val="EB5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0" y="0"/>
              <a:ext cx="1104900" cy="266700"/>
            </a:xfrm>
            <a:prstGeom prst="roundRect">
              <a:avLst>
                <a:gd name="adj" fmla="val 14285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18" name="Google Shape;518;p24"/>
            <p:cNvSpPr txBox="1"/>
            <p:nvPr/>
          </p:nvSpPr>
          <p:spPr>
            <a:xfrm>
              <a:off x="38100" y="38100"/>
              <a:ext cx="1028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Analyst Loop</a:t>
              </a:r>
              <a:endParaRPr sz="10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76200" y="342900"/>
              <a:ext cx="9525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Verification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Analysts review live alerts:</a:t>
              </a:r>
              <a:endParaRPr sz="10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rgbClr val="33A65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✓ Confirm</a:t>
              </a:r>
              <a:endParaRPr sz="1000" b="1">
                <a:solidFill>
                  <a:srgbClr val="33A65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450"/>
                </a:spcAft>
                <a:buNone/>
              </a:pPr>
              <a:r>
                <a:rPr lang="en" sz="1000" b="1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✗ Reject</a:t>
              </a:r>
              <a:endParaRPr sz="1000" b="1">
                <a:solidFill>
                  <a:srgbClr val="E74435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520" name="Google Shape;52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7525" y="2995613"/>
            <a:ext cx="4810200" cy="1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4"/>
          <p:cNvSpPr/>
          <p:nvPr/>
        </p:nvSpPr>
        <p:spPr>
          <a:xfrm>
            <a:off x="4857750" y="3105150"/>
            <a:ext cx="1238400" cy="152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4775" cap="flat" cmpd="sng">
            <a:solidFill>
              <a:srgbClr val="EB56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sp>
        <p:nvSpPr>
          <p:cNvPr id="522" name="Google Shape;522;p24"/>
          <p:cNvSpPr txBox="1"/>
          <p:nvPr/>
        </p:nvSpPr>
        <p:spPr>
          <a:xfrm>
            <a:off x="4857750" y="3105150"/>
            <a:ext cx="1238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EB5600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Active Feedback Loop</a:t>
            </a:r>
            <a:endParaRPr sz="800" b="1">
              <a:solidFill>
                <a:srgbClr val="EB5600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</p:txBody>
      </p:sp>
      <p:grpSp>
        <p:nvGrpSpPr>
          <p:cNvPr id="523" name="Google Shape;523;p24"/>
          <p:cNvGrpSpPr/>
          <p:nvPr/>
        </p:nvGrpSpPr>
        <p:grpSpPr>
          <a:xfrm>
            <a:off x="723900" y="3381375"/>
            <a:ext cx="7686600" cy="1524000"/>
            <a:chOff x="0" y="0"/>
            <a:chExt cx="7686600" cy="1524000"/>
          </a:xfrm>
        </p:grpSpPr>
        <p:sp>
          <p:nvSpPr>
            <p:cNvPr id="524" name="Google Shape;524;p24"/>
            <p:cNvSpPr/>
            <p:nvPr/>
          </p:nvSpPr>
          <p:spPr>
            <a:xfrm>
              <a:off x="0" y="0"/>
              <a:ext cx="7686600" cy="1524000"/>
            </a:xfrm>
            <a:prstGeom prst="roundRect">
              <a:avLst>
                <a:gd name="adj" fmla="val 3750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0" y="0"/>
              <a:ext cx="7686600" cy="247800"/>
            </a:xfrm>
            <a:prstGeom prst="roundRect">
              <a:avLst>
                <a:gd name="adj" fmla="val 23076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26" name="Google Shape;526;p24"/>
            <p:cNvSpPr txBox="1"/>
            <p:nvPr/>
          </p:nvSpPr>
          <p:spPr>
            <a:xfrm>
              <a:off x="152400" y="28575"/>
              <a:ext cx="7381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Serving Infrastructure &amp; Latency Budget Performance</a:t>
              </a:r>
              <a:endParaRPr sz="11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527" name="Google Shape;527;p24"/>
            <p:cNvGrpSpPr/>
            <p:nvPr/>
          </p:nvGrpSpPr>
          <p:grpSpPr>
            <a:xfrm>
              <a:off x="152400" y="361950"/>
              <a:ext cx="1714500" cy="1028700"/>
              <a:chOff x="0" y="0"/>
              <a:chExt cx="1714500" cy="1028700"/>
            </a:xfrm>
          </p:grpSpPr>
          <p:sp>
            <p:nvSpPr>
              <p:cNvPr id="528" name="Google Shape;528;p24"/>
              <p:cNvSpPr/>
              <p:nvPr/>
            </p:nvSpPr>
            <p:spPr>
              <a:xfrm>
                <a:off x="0" y="0"/>
                <a:ext cx="1714500" cy="1028700"/>
              </a:xfrm>
              <a:prstGeom prst="roundRect">
                <a:avLst>
                  <a:gd name="adj" fmla="val 3703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29" name="Google Shape;529;p24"/>
              <p:cNvSpPr txBox="1"/>
              <p:nvPr/>
            </p:nvSpPr>
            <p:spPr>
              <a:xfrm>
                <a:off x="76200" y="76200"/>
                <a:ext cx="15621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EB5600"/>
                    </a:solidFill>
                    <a:latin typeface="Old Standard TT" panose="020B0604020202020204" charset="0"/>
                    <a:ea typeface="Raleway"/>
                    <a:cs typeface="Raleway"/>
                    <a:sym typeface="Raleway"/>
                  </a:rPr>
                  <a:t>33 ms</a:t>
                </a:r>
                <a:endParaRPr sz="1800" b="1">
                  <a:solidFill>
                    <a:srgbClr val="EB5600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30" name="Google Shape;530;p24"/>
              <p:cNvSpPr txBox="1"/>
              <p:nvPr/>
            </p:nvSpPr>
            <p:spPr>
              <a:xfrm>
                <a:off x="76200" y="428625"/>
                <a:ext cx="15621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1A1A1A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Latency Budget</a:t>
                </a:r>
                <a:endParaRPr sz="9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450"/>
                  </a:spcAft>
                  <a:buNone/>
                </a:pPr>
                <a:r>
                  <a:rPr lang="en" sz="900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Maximum threshold per frame for real-time compliance</a:t>
                </a:r>
                <a:endParaRPr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31" name="Google Shape;531;p24"/>
            <p:cNvGrpSpPr/>
            <p:nvPr/>
          </p:nvGrpSpPr>
          <p:grpSpPr>
            <a:xfrm>
              <a:off x="2000250" y="361950"/>
              <a:ext cx="1714500" cy="1028700"/>
              <a:chOff x="0" y="0"/>
              <a:chExt cx="1714500" cy="1028700"/>
            </a:xfrm>
          </p:grpSpPr>
          <p:sp>
            <p:nvSpPr>
              <p:cNvPr id="532" name="Google Shape;532;p24"/>
              <p:cNvSpPr/>
              <p:nvPr/>
            </p:nvSpPr>
            <p:spPr>
              <a:xfrm>
                <a:off x="0" y="0"/>
                <a:ext cx="1714500" cy="1028700"/>
              </a:xfrm>
              <a:prstGeom prst="roundRect">
                <a:avLst>
                  <a:gd name="adj" fmla="val 3703"/>
                </a:avLst>
              </a:prstGeom>
              <a:solidFill>
                <a:srgbClr val="FFFFFF"/>
              </a:solidFill>
              <a:ln w="9525" cap="flat" cmpd="sng">
                <a:solidFill>
                  <a:srgbClr val="1A998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33" name="Google Shape;533;p24"/>
              <p:cNvSpPr txBox="1"/>
              <p:nvPr/>
            </p:nvSpPr>
            <p:spPr>
              <a:xfrm>
                <a:off x="76200" y="76200"/>
                <a:ext cx="15621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9988"/>
                    </a:solidFill>
                    <a:latin typeface="Old Standard TT" panose="020B0604020202020204" charset="0"/>
                    <a:ea typeface="Raleway"/>
                    <a:cs typeface="Raleway"/>
                    <a:sym typeface="Raleway"/>
                  </a:rPr>
                  <a:t>&lt; 5 ms</a:t>
                </a:r>
                <a:endParaRPr sz="18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34" name="Google Shape;534;p24"/>
              <p:cNvSpPr txBox="1"/>
              <p:nvPr/>
            </p:nvSpPr>
            <p:spPr>
              <a:xfrm>
                <a:off x="76200" y="428625"/>
                <a:ext cx="15621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1A1A1A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GPU Inference</a:t>
                </a:r>
                <a:endParaRPr sz="9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450"/>
                  </a:spcAft>
                  <a:buNone/>
                </a:pPr>
                <a:r>
                  <a:rPr lang="en" sz="900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Operates significantly well within time budget</a:t>
                </a:r>
                <a:endParaRPr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35" name="Google Shape;535;p24"/>
            <p:cNvGrpSpPr/>
            <p:nvPr/>
          </p:nvGrpSpPr>
          <p:grpSpPr>
            <a:xfrm>
              <a:off x="3848100" y="361950"/>
              <a:ext cx="1714500" cy="1028700"/>
              <a:chOff x="0" y="0"/>
              <a:chExt cx="1714500" cy="1028700"/>
            </a:xfrm>
          </p:grpSpPr>
          <p:sp>
            <p:nvSpPr>
              <p:cNvPr id="536" name="Google Shape;536;p24"/>
              <p:cNvSpPr/>
              <p:nvPr/>
            </p:nvSpPr>
            <p:spPr>
              <a:xfrm>
                <a:off x="0" y="0"/>
                <a:ext cx="1714500" cy="1028700"/>
              </a:xfrm>
              <a:prstGeom prst="roundRect">
                <a:avLst>
                  <a:gd name="adj" fmla="val 3703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37" name="Google Shape;537;p24"/>
              <p:cNvSpPr txBox="1"/>
              <p:nvPr/>
            </p:nvSpPr>
            <p:spPr>
              <a:xfrm>
                <a:off x="76200" y="76200"/>
                <a:ext cx="15621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C3678"/>
                    </a:solidFill>
                    <a:latin typeface="Old Standard TT" panose="020B0604020202020204" charset="0"/>
                    <a:ea typeface="Raleway"/>
                    <a:cs typeface="Raleway"/>
                    <a:sym typeface="Raleway"/>
                  </a:rPr>
                  <a:t>~30 ms</a:t>
                </a:r>
                <a:endParaRPr sz="18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endParaRPr>
              </a:p>
            </p:txBody>
          </p:sp>
          <p:sp>
            <p:nvSpPr>
              <p:cNvPr id="538" name="Google Shape;538;p24"/>
              <p:cNvSpPr txBox="1"/>
              <p:nvPr/>
            </p:nvSpPr>
            <p:spPr>
              <a:xfrm>
                <a:off x="76200" y="428625"/>
                <a:ext cx="15621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 b="1">
                    <a:solidFill>
                      <a:srgbClr val="1A1A1A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CPU Fallback</a:t>
                </a:r>
                <a:endParaRPr sz="9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  <a:p>
                <a:pPr marL="0" lvl="0" indent="0" algn="ctr" rtl="0">
                  <a:spcBef>
                    <a:spcPts val="150"/>
                  </a:spcBef>
                  <a:spcAft>
                    <a:spcPts val="450"/>
                  </a:spcAft>
                  <a:buNone/>
                </a:pPr>
                <a:r>
                  <a:rPr lang="en" sz="900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Maintains target rate per frame on edge CPU</a:t>
                </a:r>
                <a:endParaRPr sz="9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539" name="Google Shape;539;p24"/>
            <p:cNvGrpSpPr/>
            <p:nvPr/>
          </p:nvGrpSpPr>
          <p:grpSpPr>
            <a:xfrm>
              <a:off x="5695950" y="361950"/>
              <a:ext cx="1838400" cy="1028700"/>
              <a:chOff x="0" y="0"/>
              <a:chExt cx="1838400" cy="1028700"/>
            </a:xfrm>
          </p:grpSpPr>
          <p:sp>
            <p:nvSpPr>
              <p:cNvPr id="540" name="Google Shape;540;p24"/>
              <p:cNvSpPr/>
              <p:nvPr/>
            </p:nvSpPr>
            <p:spPr>
              <a:xfrm>
                <a:off x="0" y="0"/>
                <a:ext cx="1838400" cy="1028700"/>
              </a:xfrm>
              <a:prstGeom prst="roundRect">
                <a:avLst>
                  <a:gd name="adj" fmla="val 3703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41" name="Google Shape;541;p24"/>
              <p:cNvSpPr txBox="1"/>
              <p:nvPr/>
            </p:nvSpPr>
            <p:spPr>
              <a:xfrm>
                <a:off x="114300" y="95250"/>
                <a:ext cx="16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75" b="1">
                    <a:solidFill>
                      <a:srgbClr val="1A1A1A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Optimizations:</a:t>
                </a:r>
                <a:endParaRPr sz="775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lang="en" sz="736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• </a:t>
                </a:r>
                <a:r>
                  <a:rPr lang="en" sz="736" b="1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Batching:</a:t>
                </a:r>
                <a:r>
                  <a:rPr lang="en" sz="736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 High throughput handling</a:t>
                </a:r>
                <a:endParaRPr sz="736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736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• </a:t>
                </a:r>
                <a:r>
                  <a:rPr lang="en" sz="736" b="1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Caching:</a:t>
                </a:r>
                <a:r>
                  <a:rPr lang="en" sz="736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 Real-time scene statistics</a:t>
                </a:r>
                <a:endParaRPr sz="736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736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• </a:t>
                </a:r>
                <a:r>
                  <a:rPr lang="en" sz="736" b="1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Reliability:</a:t>
                </a:r>
                <a:r>
                  <a:rPr lang="en" sz="736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 Robust CPU fallback</a:t>
                </a:r>
                <a:endParaRPr sz="736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5"/>
          <p:cNvGrpSpPr/>
          <p:nvPr/>
        </p:nvGrpSpPr>
        <p:grpSpPr>
          <a:xfrm>
            <a:off x="723900" y="1095375"/>
            <a:ext cx="3429000" cy="3143100"/>
            <a:chOff x="723900" y="1095375"/>
            <a:chExt cx="3429000" cy="3143100"/>
          </a:xfrm>
        </p:grpSpPr>
        <p:sp>
          <p:nvSpPr>
            <p:cNvPr id="553" name="Google Shape;553;p25"/>
            <p:cNvSpPr txBox="1"/>
            <p:nvPr/>
          </p:nvSpPr>
          <p:spPr>
            <a:xfrm>
              <a:off x="723900" y="1095375"/>
              <a:ext cx="34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 b="1">
                  <a:solidFill>
                    <a:srgbClr val="1A1A1A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Baseline System</a:t>
              </a:r>
              <a:endParaRPr sz="2405" b="1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en" sz="185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Results &amp; Analysis</a:t>
              </a:r>
              <a:endParaRPr sz="185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grpSp>
          <p:nvGrpSpPr>
            <p:cNvPr id="554" name="Google Shape;554;p25"/>
            <p:cNvGrpSpPr/>
            <p:nvPr/>
          </p:nvGrpSpPr>
          <p:grpSpPr>
            <a:xfrm>
              <a:off x="723900" y="1905000"/>
              <a:ext cx="3372000" cy="523800"/>
              <a:chOff x="0" y="0"/>
              <a:chExt cx="3372000" cy="523800"/>
            </a:xfrm>
          </p:grpSpPr>
          <p:sp>
            <p:nvSpPr>
              <p:cNvPr id="555" name="Google Shape;555;p25"/>
              <p:cNvSpPr/>
              <p:nvPr/>
            </p:nvSpPr>
            <p:spPr>
              <a:xfrm>
                <a:off x="0" y="0"/>
                <a:ext cx="1047900" cy="5238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56" name="Google Shape;556;p25"/>
              <p:cNvSpPr txBox="1"/>
              <p:nvPr/>
            </p:nvSpPr>
            <p:spPr>
              <a:xfrm>
                <a:off x="95250" y="57150"/>
                <a:ext cx="857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9988"/>
                    </a:solidFill>
                    <a:latin typeface="Old Standard TT" panose="020B0604020202020204" charset="0"/>
                    <a:ea typeface="Raleway"/>
                    <a:cs typeface="Raleway"/>
                    <a:sym typeface="Raleway"/>
                  </a:rPr>
                  <a:t>0.6428</a:t>
                </a:r>
                <a:endParaRPr sz="18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AUC-ROC</a:t>
                </a:r>
                <a:endParaRPr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7" name="Google Shape;557;p25"/>
              <p:cNvSpPr/>
              <p:nvPr/>
            </p:nvSpPr>
            <p:spPr>
              <a:xfrm>
                <a:off x="1162050" y="0"/>
                <a:ext cx="1047900" cy="5238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58" name="Google Shape;558;p25"/>
              <p:cNvSpPr txBox="1"/>
              <p:nvPr/>
            </p:nvSpPr>
            <p:spPr>
              <a:xfrm>
                <a:off x="1257300" y="57150"/>
                <a:ext cx="857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solidFill>
                      <a:srgbClr val="1A9988"/>
                    </a:solidFill>
                    <a:latin typeface="Old Standard TT" panose="020B0604020202020204" charset="0"/>
                    <a:ea typeface="Raleway"/>
                    <a:cs typeface="Raleway"/>
                    <a:sym typeface="Raleway"/>
                  </a:rPr>
                  <a:t>0.927</a:t>
                </a:r>
                <a:endParaRPr sz="180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Precision</a:t>
                </a:r>
                <a:endParaRPr sz="10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59" name="Google Shape;559;p25"/>
              <p:cNvSpPr/>
              <p:nvPr/>
            </p:nvSpPr>
            <p:spPr>
              <a:xfrm>
                <a:off x="2324100" y="0"/>
                <a:ext cx="1047900" cy="523800"/>
              </a:xfrm>
              <a:prstGeom prst="roundRect">
                <a:avLst>
                  <a:gd name="adj" fmla="val 7272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Old Standard TT" panose="020B0604020202020204" charset="0"/>
                </a:endParaRPr>
              </a:p>
            </p:txBody>
          </p:sp>
          <p:sp>
            <p:nvSpPr>
              <p:cNvPr id="560" name="Google Shape;560;p25"/>
              <p:cNvSpPr txBox="1"/>
              <p:nvPr/>
            </p:nvSpPr>
            <p:spPr>
              <a:xfrm>
                <a:off x="2419350" y="57150"/>
                <a:ext cx="857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30" b="1">
                    <a:solidFill>
                      <a:srgbClr val="1A9988"/>
                    </a:solidFill>
                    <a:latin typeface="Old Standard TT" panose="020B0604020202020204" charset="0"/>
                    <a:ea typeface="Raleway"/>
                    <a:cs typeface="Raleway"/>
                    <a:sym typeface="Raleway"/>
                  </a:rPr>
                  <a:t>&lt; 5 ms</a:t>
                </a:r>
                <a:endParaRPr sz="1530" b="1">
                  <a:solidFill>
                    <a:srgbClr val="1A998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 b="0">
                    <a:solidFill>
                      <a:srgbClr val="595959"/>
                    </a:solidFill>
                    <a:latin typeface="Old Standard TT" panose="020B0604020202020204" charset="0"/>
                    <a:ea typeface="Lato"/>
                    <a:cs typeface="Lato"/>
                    <a:sym typeface="Lato"/>
                  </a:rPr>
                  <a:t>Inference / frame</a:t>
                </a:r>
                <a:endParaRPr sz="8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561" name="Google Shape;561;p25"/>
            <p:cNvSpPr txBox="1"/>
            <p:nvPr/>
          </p:nvSpPr>
          <p:spPr>
            <a:xfrm>
              <a:off x="723900" y="2619375"/>
              <a:ext cx="3429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Real Results</a:t>
              </a:r>
              <a:endParaRPr sz="1203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Achieved strong precision using </a:t>
              </a:r>
              <a:r>
                <a:rPr lang="en" sz="111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zero anomaly training labels</a:t>
              </a: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, running at real-time speeds under 5ms per frame.</a:t>
              </a:r>
              <a:endParaRPr sz="111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Root Cause Analysis</a:t>
              </a:r>
              <a:endParaRPr sz="1203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600"/>
                </a:spcAft>
                <a:buNone/>
              </a:pP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Low recall (</a:t>
              </a:r>
              <a:r>
                <a:rPr lang="en" sz="1110" b="1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0.217</a:t>
              </a: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) stems from a conservative threshold and a single-frame architecture that misses temporal motion anomalies.</a:t>
              </a:r>
              <a:endParaRPr sz="111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2" name="Google Shape;562;p25"/>
          <p:cNvSpPr txBox="1"/>
          <p:nvPr/>
        </p:nvSpPr>
        <p:spPr>
          <a:xfrm>
            <a:off x="4953000" y="1095375"/>
            <a:ext cx="3524400" cy="314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8" b="1" i="0" u="none" strike="noStrike">
                <a:solidFill>
                  <a:srgbClr val="1C3678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Next Steps &amp; Lessons</a:t>
            </a:r>
            <a:endParaRPr sz="1388" b="1" i="0" u="none" strike="noStrike">
              <a:solidFill>
                <a:srgbClr val="1C3678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203" b="1" i="0" u="none" strike="noStrike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Architectural Redo Steps</a:t>
            </a:r>
            <a:endParaRPr sz="1203" b="1" i="0" u="none" strike="noStrike">
              <a:solidFill>
                <a:srgbClr val="1C3678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457200" lvl="0" indent="-316706" algn="l" rtl="0">
              <a:spcBef>
                <a:spcPts val="900"/>
              </a:spcBef>
              <a:spcAft>
                <a:spcPts val="0"/>
              </a:spcAft>
              <a:buClr>
                <a:srgbClr val="1C3678"/>
              </a:buClr>
              <a:buSzPts val="1388"/>
              <a:buFont typeface="Lato"/>
              <a:buChar char="●"/>
            </a:pP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Explore </a:t>
            </a:r>
            <a:r>
              <a:rPr lang="en" sz="1110" b="1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3D Convolutional AutoEncoders</a:t>
            </a: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 operating over 8-frame clips.</a:t>
            </a:r>
            <a:endParaRPr sz="1110" b="0" i="0" u="none" strike="noStrike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457200" lvl="0" indent="-316706" algn="l" rtl="0">
              <a:spcBef>
                <a:spcPts val="600"/>
              </a:spcBef>
              <a:spcAft>
                <a:spcPts val="0"/>
              </a:spcAft>
              <a:buClr>
                <a:srgbClr val="1C3678"/>
              </a:buClr>
              <a:buSzPts val="1388"/>
              <a:buFont typeface="Lato"/>
              <a:buChar char="●"/>
            </a:pP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Integrate </a:t>
            </a:r>
            <a:r>
              <a:rPr lang="en" sz="1110" b="1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PatchCore</a:t>
            </a: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 for enhanced patch-level feature extraction.</a:t>
            </a:r>
            <a:endParaRPr sz="1110" b="0" i="0" u="none" strike="noStrike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457200" lvl="0" indent="-316706" algn="l" rtl="0">
              <a:spcBef>
                <a:spcPts val="600"/>
              </a:spcBef>
              <a:spcAft>
                <a:spcPts val="0"/>
              </a:spcAft>
              <a:buClr>
                <a:srgbClr val="1C3678"/>
              </a:buClr>
              <a:buSzPts val="1388"/>
              <a:buFont typeface="Lato"/>
              <a:buChar char="●"/>
            </a:pP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Incorporate </a:t>
            </a:r>
            <a:r>
              <a:rPr lang="en" sz="1110" b="1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optical flow channels</a:t>
            </a: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 to explicitly capture dynamic motion.</a:t>
            </a:r>
            <a:endParaRPr sz="1110" b="0" i="0" u="none" strike="noStrike">
              <a:solidFill>
                <a:srgbClr val="595959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3" b="1" i="0" u="none" strike="noStrike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Key Lesson Learned</a:t>
            </a:r>
            <a:endParaRPr sz="1203" b="1" i="0" u="none" strike="noStrike">
              <a:solidFill>
                <a:srgbClr val="1C3678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Shipping a one-class unsupervised baseline fast earns </a:t>
            </a:r>
            <a:r>
              <a:rPr lang="en" sz="1110" b="1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analyst trust through high precision</a:t>
            </a:r>
            <a:r>
              <a:rPr lang="en" sz="1110" b="0" i="0" u="none" strike="noStrike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, establishing a solid foundation while recall is iteratively improved using temporal models.</a:t>
            </a:r>
            <a:endParaRPr sz="1110" b="1" i="0" u="none" strike="noStrike">
              <a:solidFill>
                <a:srgbClr val="1C3678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6F3E6-7300-F175-5F62-08E299F48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D9221BB8-6C0A-1821-02C9-AABB954415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2</a:t>
            </a: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8334723E-5C1A-7D9A-5D25-6580264BB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Llama 2 Explanation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22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6"/>
          <p:cNvSpPr txBox="1"/>
          <p:nvPr/>
        </p:nvSpPr>
        <p:spPr>
          <a:xfrm>
            <a:off x="723900" y="581025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r>
              <a:rPr lang="en" sz="26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Llama 3.2 1B Architecture Breakdown</a:t>
            </a:r>
            <a:endParaRPr sz="26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572" name="Google Shape;572;p26"/>
          <p:cNvGrpSpPr/>
          <p:nvPr/>
        </p:nvGrpSpPr>
        <p:grpSpPr>
          <a:xfrm>
            <a:off x="723900" y="1123950"/>
            <a:ext cx="748538" cy="45600"/>
            <a:chOff x="0" y="0"/>
            <a:chExt cx="748538" cy="45600"/>
          </a:xfrm>
        </p:grpSpPr>
        <p:sp>
          <p:nvSpPr>
            <p:cNvPr id="573" name="Google Shape;573;p26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74" name="Google Shape;574;p26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575" name="Google Shape;575;p26"/>
          <p:cNvSpPr/>
          <p:nvPr/>
        </p:nvSpPr>
        <p:spPr>
          <a:xfrm>
            <a:off x="723900" y="1295400"/>
            <a:ext cx="7696200" cy="342900"/>
          </a:xfrm>
          <a:prstGeom prst="roundRect">
            <a:avLst>
              <a:gd name="adj" fmla="val 11111"/>
            </a:avLst>
          </a:prstGeom>
          <a:solidFill>
            <a:srgbClr val="1C367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ld Standard TT" panose="020B0604020202020204" charset="0"/>
            </a:endParaRPr>
          </a:p>
        </p:txBody>
      </p:sp>
      <p:sp>
        <p:nvSpPr>
          <p:cNvPr id="576" name="Google Shape;576;p26"/>
          <p:cNvSpPr txBox="1"/>
          <p:nvPr/>
        </p:nvSpPr>
        <p:spPr>
          <a:xfrm>
            <a:off x="838200" y="1362075"/>
            <a:ext cx="74676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Old Standard TT" panose="020B0604020202020204" charset="0"/>
                <a:ea typeface="Lato"/>
                <a:cs typeface="Lato"/>
                <a:sym typeface="Lato"/>
              </a:rPr>
              <a:t>Decoder-Only Causal Transformer ~950 Million Total Parameters</a:t>
            </a:r>
            <a:endParaRPr sz="1200" b="1">
              <a:solidFill>
                <a:srgbClr val="FFFFFF"/>
              </a:solidFill>
              <a:latin typeface="Old Standard TT" panose="020B0604020202020204" charset="0"/>
              <a:ea typeface="Lato"/>
              <a:cs typeface="Lato"/>
              <a:sym typeface="Lato"/>
            </a:endParaRPr>
          </a:p>
        </p:txBody>
      </p:sp>
      <p:grpSp>
        <p:nvGrpSpPr>
          <p:cNvPr id="577" name="Google Shape;577;p26"/>
          <p:cNvGrpSpPr/>
          <p:nvPr/>
        </p:nvGrpSpPr>
        <p:grpSpPr>
          <a:xfrm>
            <a:off x="723900" y="1733550"/>
            <a:ext cx="3753000" cy="1238400"/>
            <a:chOff x="0" y="0"/>
            <a:chExt cx="3753000" cy="1238400"/>
          </a:xfrm>
        </p:grpSpPr>
        <p:sp>
          <p:nvSpPr>
            <p:cNvPr id="578" name="Google Shape;578;p26"/>
            <p:cNvSpPr/>
            <p:nvPr/>
          </p:nvSpPr>
          <p:spPr>
            <a:xfrm>
              <a:off x="0" y="0"/>
              <a:ext cx="3753000" cy="1238400"/>
            </a:xfrm>
            <a:prstGeom prst="roundRect">
              <a:avLst>
                <a:gd name="adj" fmla="val 4615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0" y="0"/>
              <a:ext cx="3753000" cy="38100"/>
            </a:xfrm>
            <a:prstGeom prst="roundRect">
              <a:avLst>
                <a:gd name="adj" fmla="val 5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80" name="Google Shape;580;p26"/>
            <p:cNvSpPr txBox="1"/>
            <p:nvPr/>
          </p:nvSpPr>
          <p:spPr>
            <a:xfrm>
              <a:off x="152400" y="114300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1. Tokenizer &amp; Embeddings</a:t>
              </a:r>
              <a:endParaRPr sz="14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Tokenizer:</a:t>
              </a: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BPE with 128,000 vocabulary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Fallback:</a:t>
              </a: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Byte-fallback to UTF-8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Embeddings:</a:t>
              </a: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Weight-tied embedding table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1" name="Google Shape;581;p26"/>
          <p:cNvGrpSpPr/>
          <p:nvPr/>
        </p:nvGrpSpPr>
        <p:grpSpPr>
          <a:xfrm>
            <a:off x="4667250" y="1733550"/>
            <a:ext cx="3753000" cy="1238400"/>
            <a:chOff x="0" y="0"/>
            <a:chExt cx="3753000" cy="1238400"/>
          </a:xfrm>
        </p:grpSpPr>
        <p:sp>
          <p:nvSpPr>
            <p:cNvPr id="582" name="Google Shape;582;p26"/>
            <p:cNvSpPr/>
            <p:nvPr/>
          </p:nvSpPr>
          <p:spPr>
            <a:xfrm>
              <a:off x="0" y="0"/>
              <a:ext cx="3753000" cy="1238400"/>
            </a:xfrm>
            <a:prstGeom prst="roundRect">
              <a:avLst>
                <a:gd name="adj" fmla="val 4615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0" y="0"/>
              <a:ext cx="3753000" cy="38100"/>
            </a:xfrm>
            <a:prstGeom prst="roundRect">
              <a:avLst>
                <a:gd name="adj" fmla="val 50000"/>
              </a:avLst>
            </a:pr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84" name="Google Shape;584;p26"/>
            <p:cNvSpPr txBox="1"/>
            <p:nvPr/>
          </p:nvSpPr>
          <p:spPr>
            <a:xfrm>
              <a:off x="152400" y="114300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5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2. 16 Decoder Layers</a:t>
              </a:r>
              <a:endParaRPr sz="1295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Attention: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Grouped-Query Attention (GQA)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Heads: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32 Query heads &amp; 8 Key-Value heads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Normalization &amp; Pos: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Pre-norm RMSNorm + RoPE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5" name="Google Shape;585;p26"/>
          <p:cNvGrpSpPr/>
          <p:nvPr/>
        </p:nvGrpSpPr>
        <p:grpSpPr>
          <a:xfrm>
            <a:off x="723900" y="3067050"/>
            <a:ext cx="3753000" cy="1238400"/>
            <a:chOff x="0" y="0"/>
            <a:chExt cx="3753000" cy="1238400"/>
          </a:xfrm>
        </p:grpSpPr>
        <p:sp>
          <p:nvSpPr>
            <p:cNvPr id="586" name="Google Shape;586;p26"/>
            <p:cNvSpPr/>
            <p:nvPr/>
          </p:nvSpPr>
          <p:spPr>
            <a:xfrm>
              <a:off x="0" y="0"/>
              <a:ext cx="3753000" cy="1238400"/>
            </a:xfrm>
            <a:prstGeom prst="roundRect">
              <a:avLst>
                <a:gd name="adj" fmla="val 4615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0" y="0"/>
              <a:ext cx="3753000" cy="38100"/>
            </a:xfrm>
            <a:prstGeom prst="roundRect">
              <a:avLst>
                <a:gd name="adj" fmla="val 5000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88" name="Google Shape;588;p26"/>
            <p:cNvSpPr txBox="1"/>
            <p:nvPr/>
          </p:nvSpPr>
          <p:spPr>
            <a:xfrm>
              <a:off x="152400" y="114300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95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3. Feed-Forward Network &amp; Output</a:t>
              </a:r>
              <a:endParaRPr sz="1295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FFN Type: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SwiGLU feed-forward network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Dimension Expansion: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2048 to 5504 dimensions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3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Output Head:</a:t>
              </a:r>
              <a:r>
                <a:rPr lang="en" sz="1203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Tied with input embedding weights</a:t>
              </a:r>
              <a:endParaRPr sz="1203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9" name="Google Shape;589;p26"/>
          <p:cNvGrpSpPr/>
          <p:nvPr/>
        </p:nvGrpSpPr>
        <p:grpSpPr>
          <a:xfrm>
            <a:off x="4667250" y="3067050"/>
            <a:ext cx="3753000" cy="1238400"/>
            <a:chOff x="0" y="0"/>
            <a:chExt cx="3753000" cy="1238400"/>
          </a:xfrm>
        </p:grpSpPr>
        <p:sp>
          <p:nvSpPr>
            <p:cNvPr id="590" name="Google Shape;590;p26"/>
            <p:cNvSpPr/>
            <p:nvPr/>
          </p:nvSpPr>
          <p:spPr>
            <a:xfrm>
              <a:off x="0" y="0"/>
              <a:ext cx="3753000" cy="1238400"/>
            </a:xfrm>
            <a:prstGeom prst="roundRect">
              <a:avLst>
                <a:gd name="adj" fmla="val 4615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0" y="0"/>
              <a:ext cx="3753000" cy="38100"/>
            </a:xfrm>
            <a:prstGeom prst="roundRect">
              <a:avLst>
                <a:gd name="adj" fmla="val 50000"/>
              </a:avLst>
            </a:prstGeom>
            <a:solidFill>
              <a:srgbClr val="33A65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92" name="Google Shape;592;p26"/>
            <p:cNvSpPr txBox="1"/>
            <p:nvPr/>
          </p:nvSpPr>
          <p:spPr>
            <a:xfrm>
              <a:off x="152400" y="114300"/>
              <a:ext cx="3448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C3678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4. Parameter Budget Breakdown</a:t>
              </a:r>
              <a:endParaRPr sz="1400" b="1">
                <a:solidFill>
                  <a:srgbClr val="1C3678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Embedding Table:</a:t>
              </a: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</a:t>
              </a:r>
              <a:r>
                <a:rPr lang="en" sz="1300" b="1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262 Million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Attention Layers:</a:t>
              </a: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</a:t>
              </a:r>
              <a:r>
                <a:rPr lang="en" sz="1300" b="1">
                  <a:solidFill>
                    <a:srgbClr val="3984F1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134 Million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13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SwiGLU Layers:</a:t>
              </a: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</a:t>
              </a:r>
              <a:r>
                <a:rPr lang="en" sz="1300" b="1">
                  <a:solidFill>
                    <a:srgbClr val="EB560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542 Million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93" name="Google Shape;593;p26"/>
          <p:cNvGrpSpPr/>
          <p:nvPr/>
        </p:nvGrpSpPr>
        <p:grpSpPr>
          <a:xfrm>
            <a:off x="723900" y="4400550"/>
            <a:ext cx="7696275" cy="400050"/>
            <a:chOff x="0" y="0"/>
            <a:chExt cx="7696275" cy="400050"/>
          </a:xfrm>
        </p:grpSpPr>
        <p:sp>
          <p:nvSpPr>
            <p:cNvPr id="594" name="Google Shape;594;p26"/>
            <p:cNvSpPr/>
            <p:nvPr/>
          </p:nvSpPr>
          <p:spPr>
            <a:xfrm>
              <a:off x="0" y="0"/>
              <a:ext cx="2152800" cy="171600"/>
            </a:xfrm>
            <a:prstGeom prst="roundRect">
              <a:avLst>
                <a:gd name="adj" fmla="val 16666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95" name="Google Shape;595;p26"/>
            <p:cNvSpPr/>
            <p:nvPr/>
          </p:nvSpPr>
          <p:spPr>
            <a:xfrm>
              <a:off x="2190750" y="0"/>
              <a:ext cx="1076400" cy="171600"/>
            </a:xfrm>
            <a:prstGeom prst="roundRect">
              <a:avLst>
                <a:gd name="adj" fmla="val 16666"/>
              </a:avLst>
            </a:pr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3305175" y="0"/>
              <a:ext cx="4391100" cy="171600"/>
            </a:xfrm>
            <a:prstGeom prst="roundRect">
              <a:avLst>
                <a:gd name="adj" fmla="val 16666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597" name="Google Shape;597;p26"/>
            <p:cNvSpPr txBox="1"/>
            <p:nvPr/>
          </p:nvSpPr>
          <p:spPr>
            <a:xfrm>
              <a:off x="0" y="209550"/>
              <a:ext cx="76962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Embeddings: 262M (28%) Attention: 134M (14%) SwiGLU FFN: 542M (58%)</a:t>
              </a:r>
              <a:endParaRPr sz="90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0"/>
          <p:cNvSpPr/>
          <p:nvPr/>
        </p:nvSpPr>
        <p:spPr>
          <a:xfrm>
            <a:off x="609600" y="60960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1F6F64"/>
              </a:buClr>
              <a:buSzPts val="1200"/>
            </a:pPr>
            <a:r>
              <a:rPr lang="en-US" sz="900" b="1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THE UNDERLYING MATH · 1 OF 2</a:t>
            </a:r>
            <a:endParaRPr sz="900" dirty="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609600" y="836265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0000"/>
              </a:lnSpc>
              <a:buClr>
                <a:srgbClr val="14213D"/>
              </a:buClr>
              <a:buSzPts val="2800"/>
            </a:pPr>
            <a:r>
              <a:rPr lang="en-US" sz="2100" b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RMSNorm and rotary position encoding</a:t>
            </a:r>
            <a:endParaRPr sz="21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611981" y="1265337"/>
            <a:ext cx="3890963" cy="3113782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 cap="flat" cmpd="sng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785813" y="1439168"/>
            <a:ext cx="3649599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14213D"/>
              </a:buClr>
              <a:buSzPts val="1400"/>
            </a:pPr>
            <a:r>
              <a:rPr lang="en-US" sz="1050" b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RMSNorm</a:t>
            </a:r>
            <a:endParaRPr sz="105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785813" y="1675359"/>
            <a:ext cx="3543300" cy="339031"/>
          </a:xfrm>
          <a:prstGeom prst="roundRect">
            <a:avLst>
              <a:gd name="adj" fmla="val 14047"/>
            </a:avLst>
          </a:prstGeom>
          <a:solidFill>
            <a:srgbClr val="F1EFE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881063" y="1751559"/>
            <a:ext cx="3453384" cy="205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14213D"/>
              </a:buClr>
              <a:buSzPts val="1400"/>
            </a:pPr>
            <a:r>
              <a:rPr lang="en-US" sz="105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RMSNorm(x) = x / RMS(x) · γ</a:t>
            </a:r>
            <a:endParaRPr sz="105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785813" y="2090589"/>
            <a:ext cx="3649599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3D4652"/>
              </a:buClr>
              <a:buSzPts val="1200"/>
            </a:pPr>
            <a:r>
              <a:rPr lang="en-US" sz="90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RMS(x) = √( (1/d) · Σᵢ xᵢ² )</a:t>
            </a:r>
            <a:endParaRPr sz="9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785813" y="2326779"/>
            <a:ext cx="3649599" cy="495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5043"/>
              </a:lnSpc>
              <a:buClr>
                <a:srgbClr val="3D4652"/>
              </a:buClr>
              <a:buSzPts val="1150"/>
            </a:pPr>
            <a:r>
              <a:rPr lang="en-US" sz="863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γ is a learned per-dimension scale, no bias. No mean subtraction → ~10% faster than LayerNorm, empirically as stable. Used pre-norm, before each sublayer. </a:t>
            </a:r>
            <a:endParaRPr sz="863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4641056" y="1265337"/>
            <a:ext cx="3890963" cy="3113782"/>
          </a:xfrm>
          <a:prstGeom prst="roundRect">
            <a:avLst>
              <a:gd name="adj" fmla="val 2371"/>
            </a:avLst>
          </a:prstGeom>
          <a:solidFill>
            <a:srgbClr val="FFFFFF"/>
          </a:solidFill>
          <a:ln w="9525" cap="flat" cmpd="sng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4814888" y="1439168"/>
            <a:ext cx="3649599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14213D"/>
              </a:buClr>
              <a:buSzPts val="1400"/>
            </a:pPr>
            <a:r>
              <a:rPr lang="en-US" sz="1050" b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RoPE — rotary position encoding</a:t>
            </a:r>
            <a:endParaRPr sz="105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4814888" y="1675359"/>
            <a:ext cx="3543300" cy="472381"/>
          </a:xfrm>
          <a:prstGeom prst="roundRect">
            <a:avLst>
              <a:gd name="adj" fmla="val 10082"/>
            </a:avLst>
          </a:prstGeom>
          <a:solidFill>
            <a:srgbClr val="F1EFE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4910138" y="1751559"/>
            <a:ext cx="3453384" cy="339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14213D"/>
              </a:buClr>
              <a:buSzPts val="1200"/>
            </a:pPr>
            <a:r>
              <a:rPr lang="en-US" sz="90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q̃ₘ = Rotate(qₘ, m·θ)</a:t>
            </a:r>
            <a:endParaRPr sz="9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  <a:p>
            <a:pPr>
              <a:lnSpc>
                <a:spcPct val="140000"/>
              </a:lnSpc>
              <a:buClr>
                <a:srgbClr val="14213D"/>
              </a:buClr>
              <a:buSzPts val="1200"/>
            </a:pPr>
            <a:r>
              <a:rPr lang="en-US" sz="90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k̃ₙ = Rotate(kₙ, n·θ)</a:t>
            </a:r>
            <a:endParaRPr sz="9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4814888" y="2223939"/>
            <a:ext cx="3649599" cy="16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3D4652"/>
              </a:buClr>
              <a:buSzPts val="1100"/>
            </a:pPr>
            <a:r>
              <a:rPr lang="en-US" sz="825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θᵢ = 10000^(−2i/d), for i = 0 … d/2−1</a:t>
            </a:r>
            <a:endParaRPr sz="825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4814888" y="2446809"/>
            <a:ext cx="3649599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3D4652"/>
              </a:buClr>
              <a:buSzPts val="1100"/>
            </a:pPr>
            <a:r>
              <a:rPr lang="en-US" sz="825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The dot product q̃ₘᵀk̃ₙ = qₘᵀ R((m−n)θ) kₙ depends only on relative position (m−n) — it naturally generalises beyond the training context length.</a:t>
            </a:r>
            <a:endParaRPr sz="825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609601" y="4678710"/>
            <a:ext cx="1881824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8A8F96"/>
              </a:buClr>
              <a:buSzPts val="1200"/>
            </a:pPr>
            <a:r>
              <a:rPr lang="en-US" sz="900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Llama 3.2 1B · The Underlying Math</a:t>
            </a:r>
            <a:endParaRPr sz="9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/>
          <p:nvPr/>
        </p:nvSpPr>
        <p:spPr>
          <a:xfrm>
            <a:off x="609600" y="609600"/>
            <a:ext cx="8162544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1F6F64"/>
              </a:buClr>
              <a:buSzPts val="1200"/>
            </a:pPr>
            <a:r>
              <a:rPr lang="en-US" sz="900" b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THE UNDERLYING MATH · 2 OF 2</a:t>
            </a:r>
            <a:endParaRPr sz="9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609600" y="836265"/>
            <a:ext cx="8162544" cy="312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0000"/>
              </a:lnSpc>
              <a:buClr>
                <a:srgbClr val="14213D"/>
              </a:buClr>
              <a:buSzPts val="2800"/>
            </a:pPr>
            <a:r>
              <a:rPr lang="en-US" sz="2100" b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GQA, SwiGLU, and generation</a:t>
            </a:r>
            <a:endParaRPr sz="21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11981" y="1246287"/>
            <a:ext cx="2563788" cy="3132832"/>
          </a:xfrm>
          <a:prstGeom prst="roundRect">
            <a:avLst>
              <a:gd name="adj" fmla="val 2879"/>
            </a:avLst>
          </a:prstGeom>
          <a:solidFill>
            <a:srgbClr val="FFFFFF"/>
          </a:solidFill>
          <a:ln w="9525" cap="flat" cmpd="sng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747713" y="1382018"/>
            <a:ext cx="236109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14213D"/>
              </a:buClr>
              <a:buSzPts val="1250"/>
            </a:pPr>
            <a:r>
              <a:rPr lang="en-US" sz="938" b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Grouped-query attention</a:t>
            </a:r>
            <a:endParaRPr sz="938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747712" y="1582043"/>
            <a:ext cx="2292326" cy="254273"/>
          </a:xfrm>
          <a:prstGeom prst="roundRect">
            <a:avLst>
              <a:gd name="adj" fmla="val 18730"/>
            </a:avLst>
          </a:prstGeom>
          <a:solidFill>
            <a:srgbClr val="F1EFE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823913" y="1639193"/>
            <a:ext cx="2204123" cy="159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14213D"/>
              </a:buClr>
              <a:buSzPts val="1050"/>
            </a:pPr>
            <a:r>
              <a:rPr lang="en-US" sz="788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Attn(Q,K,V) = softmax(QKᵀ/√dₖ + M)·V</a:t>
            </a:r>
            <a:endParaRPr sz="788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747713" y="1893466"/>
            <a:ext cx="236109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3D4652"/>
              </a:buClr>
              <a:buSzPts val="1000"/>
            </a:pP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M[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i,j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] = −∞ if j&gt;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i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, else 0 (causal mask). 8 KV-heads shared across 32 Q-heads → KV cache 4× smaller than standard MHA at equal quality — critical for long-context inference.</a:t>
            </a:r>
            <a:endParaRPr sz="750" dirty="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3294832" y="1246287"/>
            <a:ext cx="2563862" cy="3132832"/>
          </a:xfrm>
          <a:prstGeom prst="roundRect">
            <a:avLst>
              <a:gd name="adj" fmla="val 2879"/>
            </a:avLst>
          </a:prstGeom>
          <a:solidFill>
            <a:srgbClr val="FFFFFF"/>
          </a:solidFill>
          <a:ln w="9525" cap="flat" cmpd="sng">
            <a:solidFill>
              <a:srgbClr val="E4E1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3430563" y="1382018"/>
            <a:ext cx="2361172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14213D"/>
              </a:buClr>
              <a:buSzPts val="1250"/>
            </a:pPr>
            <a:r>
              <a:rPr lang="en-US" sz="938" b="1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SwiGLU feed-forward</a:t>
            </a:r>
            <a:endParaRPr sz="938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3430563" y="1582043"/>
            <a:ext cx="2292400" cy="514350"/>
          </a:xfrm>
          <a:prstGeom prst="roundRect">
            <a:avLst>
              <a:gd name="adj" fmla="val 9259"/>
            </a:avLst>
          </a:prstGeom>
          <a:solidFill>
            <a:srgbClr val="F1EFE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3506763" y="1639193"/>
            <a:ext cx="22042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14213D"/>
              </a:buClr>
              <a:buSzPts val="1000"/>
            </a:pP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FFN(x) = (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W_up·x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 ⊙ 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SiLU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W_gate·x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))·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W_down</a:t>
            </a:r>
            <a:endParaRPr sz="750" dirty="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  <a:p>
            <a:pPr>
              <a:lnSpc>
                <a:spcPct val="140000"/>
              </a:lnSpc>
              <a:buClr>
                <a:srgbClr val="14213D"/>
              </a:buClr>
              <a:buSzPts val="1000"/>
            </a:pP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SiLU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(x) = </a:t>
            </a:r>
            <a:r>
              <a:rPr lang="en-US" sz="750" dirty="0" err="1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x·σ</a:t>
            </a:r>
            <a:r>
              <a:rPr lang="en-US" sz="750" dirty="0">
                <a:solidFill>
                  <a:schemeClr val="tx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(x) = x/(1+e⁻ˣ)</a:t>
            </a:r>
            <a:endParaRPr sz="750" dirty="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3430563" y="2153543"/>
            <a:ext cx="236117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3D4652"/>
              </a:buClr>
              <a:buSzPts val="1000"/>
            </a:pPr>
            <a:r>
              <a:rPr lang="en-US" sz="750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Smooth, non-monotonic gating — ~10% better perplexity than ReLU/GELU. Expansion is 2048→5504 (≈2.69×, not 4×) since SwiGLU has two weight matrices in the hidden layer.</a:t>
            </a:r>
            <a:endParaRPr sz="75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5975374" y="1243906"/>
            <a:ext cx="2559026" cy="3137594"/>
          </a:xfrm>
          <a:prstGeom prst="roundRect">
            <a:avLst>
              <a:gd name="adj" fmla="val 2978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tx1"/>
              </a:solidFill>
              <a:latin typeface="Old Standard TT" panose="020B0604020202020204" charset="0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6108725" y="1377256"/>
            <a:ext cx="236109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0000"/>
              </a:lnSpc>
              <a:buClr>
                <a:srgbClr val="F5F4EF"/>
              </a:buClr>
              <a:buSzPts val="1250"/>
            </a:pPr>
            <a:r>
              <a:rPr lang="en-US" sz="938" b="1">
                <a:solidFill>
                  <a:schemeClr val="bg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Output head &amp; generation</a:t>
            </a:r>
            <a:endParaRPr sz="938">
              <a:solidFill>
                <a:schemeClr val="bg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6108724" y="1577281"/>
            <a:ext cx="2292326" cy="247650"/>
          </a:xfrm>
          <a:prstGeom prst="roundRect">
            <a:avLst>
              <a:gd name="adj" fmla="val 19231"/>
            </a:avLst>
          </a:prstGeom>
          <a:solidFill>
            <a:srgbClr val="1C2C4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>
              <a:solidFill>
                <a:schemeClr val="bg1"/>
              </a:solidFill>
              <a:latin typeface="Old Standard TT" panose="020B0604020202020204" charset="0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184925" y="1634431"/>
            <a:ext cx="220412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5FB3A5"/>
              </a:buClr>
              <a:buSzPts val="1000"/>
            </a:pPr>
            <a:r>
              <a:rPr lang="en-US" sz="750">
                <a:solidFill>
                  <a:schemeClr val="bg1"/>
                </a:solidFill>
                <a:latin typeface="Old Standard TT" panose="020B0604020202020204" charset="0"/>
                <a:ea typeface="JetBrains Mono"/>
                <a:cs typeface="JetBrains Mono"/>
                <a:sym typeface="JetBrains Mono"/>
              </a:rPr>
              <a:t>logits = x_final · W_embed^T</a:t>
            </a:r>
            <a:endParaRPr sz="750">
              <a:solidFill>
                <a:schemeClr val="bg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6108725" y="1882081"/>
            <a:ext cx="2361095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C2C8D4"/>
              </a:buClr>
              <a:buSzPts val="1000"/>
            </a:pPr>
            <a:r>
              <a:rPr lang="en-US" sz="750" dirty="0">
                <a:solidFill>
                  <a:schemeClr val="bg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Greedy: argmax(</a:t>
            </a:r>
            <a:r>
              <a:rPr lang="en-US" sz="750" dirty="0" err="1">
                <a:solidFill>
                  <a:schemeClr val="bg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softmax</a:t>
            </a:r>
            <a:r>
              <a:rPr lang="en-US" sz="750" dirty="0">
                <a:solidFill>
                  <a:schemeClr val="bg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(logits/T)). Top-p: smallest set S with ΣP(token)≥p. Top-k: sample from top-k logits. T&lt;1 sharper, T&gt;1 more diverse.</a:t>
            </a:r>
            <a:endParaRPr sz="750" dirty="0">
              <a:solidFill>
                <a:schemeClr val="bg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609601" y="4678710"/>
            <a:ext cx="1881824" cy="179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0"/>
              </a:lnSpc>
              <a:buClr>
                <a:srgbClr val="8A8F96"/>
              </a:buClr>
              <a:buSzPts val="1200"/>
            </a:pPr>
            <a:r>
              <a:rPr lang="en-US" sz="900">
                <a:solidFill>
                  <a:schemeClr val="tx1"/>
                </a:solidFill>
                <a:latin typeface="Old Standard TT" panose="020B0604020202020204" charset="0"/>
                <a:ea typeface="IBM Plex Sans"/>
                <a:cs typeface="IBM Plex Sans"/>
                <a:sym typeface="IBM Plex Sans"/>
              </a:rPr>
              <a:t>Llama 3.2 1B · The Underlying Math</a:t>
            </a:r>
            <a:endParaRPr sz="900">
              <a:solidFill>
                <a:schemeClr val="tx1"/>
              </a:solidFill>
              <a:latin typeface="Old Standard TT" panose="020B0604020202020204" charset="0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02671-6089-F67E-4E4C-EE2A88B95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1FB127F0-BFBD-11F0-94BB-7351DF3315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 3</a:t>
            </a: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84497F77-FDAB-EC02-66A7-544E8DEFB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Enterprise AI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88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28"/>
          <p:cNvSpPr txBox="1"/>
          <p:nvPr/>
        </p:nvSpPr>
        <p:spPr>
          <a:xfrm>
            <a:off x="728700" y="709725"/>
            <a:ext cx="76866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50"/>
              </a:spcAft>
              <a:buNone/>
            </a:pPr>
            <a:r>
              <a:rPr lang="en" sz="18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Enterprise AI Threat Vectors Across Four Core Layers</a:t>
            </a:r>
            <a:endParaRPr sz="18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640" name="Google Shape;640;p28"/>
          <p:cNvGrpSpPr/>
          <p:nvPr/>
        </p:nvGrpSpPr>
        <p:grpSpPr>
          <a:xfrm>
            <a:off x="723900" y="1314450"/>
            <a:ext cx="3733800" cy="1638300"/>
            <a:chOff x="0" y="0"/>
            <a:chExt cx="3733800" cy="1638300"/>
          </a:xfrm>
        </p:grpSpPr>
        <p:sp>
          <p:nvSpPr>
            <p:cNvPr id="641" name="Google Shape;641;p28"/>
            <p:cNvSpPr/>
            <p:nvPr/>
          </p:nvSpPr>
          <p:spPr>
            <a:xfrm>
              <a:off x="0" y="0"/>
              <a:ext cx="3733800" cy="1638300"/>
            </a:xfrm>
            <a:prstGeom prst="roundRect">
              <a:avLst>
                <a:gd name="adj" fmla="val 3488"/>
              </a:avLst>
            </a:prstGeom>
            <a:solidFill>
              <a:srgbClr val="E9EDEE">
                <a:alpha val="50000"/>
              </a:srgbClr>
            </a:solidFill>
            <a:ln w="14300" cap="flat" cmpd="sng">
              <a:solidFill>
                <a:srgbClr val="1A99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0" y="0"/>
              <a:ext cx="3733800" cy="304800"/>
            </a:xfrm>
            <a:prstGeom prst="roundRect">
              <a:avLst>
                <a:gd name="adj" fmla="val 1875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0" y="209550"/>
              <a:ext cx="3733800" cy="954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44" name="Google Shape;644;p28"/>
            <p:cNvSpPr txBox="1"/>
            <p:nvPr/>
          </p:nvSpPr>
          <p:spPr>
            <a:xfrm>
              <a:off x="133350" y="57150"/>
              <a:ext cx="3467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1. Build &amp; Supply Chain</a:t>
              </a:r>
              <a:endParaRPr sz="15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45" name="Google Shape;645;p28"/>
            <p:cNvSpPr txBox="1"/>
            <p:nvPr/>
          </p:nvSpPr>
          <p:spPr>
            <a:xfrm>
              <a:off x="133350" y="381000"/>
              <a:ext cx="34671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299085" algn="l" rtl="0"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110"/>
                <a:buFont typeface="Lato"/>
                <a:buChar char="●"/>
              </a:pP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Poisoned base weights compromising foundation models</a:t>
              </a:r>
              <a:endParaRPr sz="111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9085" algn="l" rtl="0">
                <a:spcBef>
                  <a:spcPts val="450"/>
                </a:spcBef>
                <a:spcAft>
                  <a:spcPts val="0"/>
                </a:spcAft>
                <a:buClr>
                  <a:srgbClr val="595959"/>
                </a:buClr>
                <a:buSzPts val="1110"/>
                <a:buFont typeface="Lato"/>
                <a:buChar char="●"/>
              </a:pP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Malicious LoRA adapters introducing backdoors</a:t>
              </a:r>
              <a:endParaRPr sz="111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9085" algn="l" rtl="0">
                <a:spcBef>
                  <a:spcPts val="450"/>
                </a:spcBef>
                <a:spcAft>
                  <a:spcPts val="450"/>
                </a:spcAft>
                <a:buClr>
                  <a:srgbClr val="595959"/>
                </a:buClr>
                <a:buSzPts val="1110"/>
                <a:buFont typeface="Lato"/>
                <a:buChar char="●"/>
              </a:pPr>
              <a:r>
                <a:rPr lang="en" sz="111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Dependency confusion attacks in ML pipelines</a:t>
              </a:r>
              <a:endParaRPr sz="111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46" name="Google Shape;646;p28"/>
          <p:cNvGrpSpPr/>
          <p:nvPr/>
        </p:nvGrpSpPr>
        <p:grpSpPr>
          <a:xfrm>
            <a:off x="4686300" y="1314450"/>
            <a:ext cx="3733800" cy="1638300"/>
            <a:chOff x="0" y="0"/>
            <a:chExt cx="3733800" cy="1638300"/>
          </a:xfrm>
        </p:grpSpPr>
        <p:sp>
          <p:nvSpPr>
            <p:cNvPr id="647" name="Google Shape;647;p28"/>
            <p:cNvSpPr/>
            <p:nvPr/>
          </p:nvSpPr>
          <p:spPr>
            <a:xfrm>
              <a:off x="0" y="0"/>
              <a:ext cx="3733800" cy="1638300"/>
            </a:xfrm>
            <a:prstGeom prst="roundRect">
              <a:avLst>
                <a:gd name="adj" fmla="val 3488"/>
              </a:avLst>
            </a:prstGeom>
            <a:solidFill>
              <a:srgbClr val="E9EDEE">
                <a:alpha val="50000"/>
              </a:srgbClr>
            </a:solidFill>
            <a:ln w="14300" cap="flat" cmpd="sng">
              <a:solidFill>
                <a:srgbClr val="3984F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0" y="0"/>
              <a:ext cx="3733800" cy="304800"/>
            </a:xfrm>
            <a:prstGeom prst="roundRect">
              <a:avLst>
                <a:gd name="adj" fmla="val 18750"/>
              </a:avLst>
            </a:pr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0" y="209550"/>
              <a:ext cx="3733800" cy="95400"/>
            </a:xfrm>
            <a:prstGeom prst="rect">
              <a:avLst/>
            </a:prstGeom>
            <a:solidFill>
              <a:srgbClr val="3984F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50" name="Google Shape;650;p28"/>
            <p:cNvSpPr txBox="1"/>
            <p:nvPr/>
          </p:nvSpPr>
          <p:spPr>
            <a:xfrm>
              <a:off x="133350" y="57150"/>
              <a:ext cx="3467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2. Data Layer</a:t>
              </a:r>
              <a:endParaRPr sz="15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51" name="Google Shape;651;p28"/>
            <p:cNvSpPr txBox="1"/>
            <p:nvPr/>
          </p:nvSpPr>
          <p:spPr>
            <a:xfrm>
              <a:off x="133350" y="381000"/>
              <a:ext cx="34671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04800" algn="l" rtl="0"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Lato"/>
                <a:buChar char="●"/>
              </a:pPr>
              <a:r>
                <a:rPr lang="en" sz="12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PII exfiltration via unmasked prompt logging</a:t>
              </a:r>
              <a:endParaRPr sz="12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04800" algn="l" rtl="0">
                <a:spcBef>
                  <a:spcPts val="450"/>
                </a:spcBef>
                <a:spcAft>
                  <a:spcPts val="0"/>
                </a:spcAft>
                <a:buClr>
                  <a:srgbClr val="595959"/>
                </a:buClr>
                <a:buSzPts val="1200"/>
                <a:buFont typeface="Lato"/>
                <a:buChar char="●"/>
              </a:pPr>
              <a:r>
                <a:rPr lang="en" sz="12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RAG source leakage exposing restricted documents</a:t>
              </a:r>
              <a:endParaRPr sz="12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04800" algn="l" rtl="0">
                <a:spcBef>
                  <a:spcPts val="450"/>
                </a:spcBef>
                <a:spcAft>
                  <a:spcPts val="450"/>
                </a:spcAft>
                <a:buClr>
                  <a:srgbClr val="595959"/>
                </a:buClr>
                <a:buSzPts val="1200"/>
                <a:buFont typeface="Lato"/>
                <a:buChar char="●"/>
              </a:pPr>
              <a:r>
                <a:rPr lang="en" sz="12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Training data poisoning altering model behavior</a:t>
              </a:r>
              <a:endParaRPr sz="12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52" name="Google Shape;652;p28"/>
          <p:cNvGrpSpPr/>
          <p:nvPr/>
        </p:nvGrpSpPr>
        <p:grpSpPr>
          <a:xfrm>
            <a:off x="723900" y="3105150"/>
            <a:ext cx="3733800" cy="1638300"/>
            <a:chOff x="0" y="0"/>
            <a:chExt cx="3733800" cy="1638300"/>
          </a:xfrm>
        </p:grpSpPr>
        <p:sp>
          <p:nvSpPr>
            <p:cNvPr id="653" name="Google Shape;653;p28"/>
            <p:cNvSpPr/>
            <p:nvPr/>
          </p:nvSpPr>
          <p:spPr>
            <a:xfrm>
              <a:off x="0" y="0"/>
              <a:ext cx="3733800" cy="1638300"/>
            </a:xfrm>
            <a:prstGeom prst="roundRect">
              <a:avLst>
                <a:gd name="adj" fmla="val 3488"/>
              </a:avLst>
            </a:prstGeom>
            <a:solidFill>
              <a:srgbClr val="E9EDEE">
                <a:alpha val="50000"/>
              </a:srgbClr>
            </a:solidFill>
            <a:ln w="14300" cap="flat" cmpd="sng">
              <a:solidFill>
                <a:srgbClr val="E744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0" y="0"/>
              <a:ext cx="3733800" cy="304800"/>
            </a:xfrm>
            <a:prstGeom prst="roundRect">
              <a:avLst>
                <a:gd name="adj" fmla="val 18750"/>
              </a:avLst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0" y="209550"/>
              <a:ext cx="3733800" cy="95400"/>
            </a:xfrm>
            <a:prstGeom prst="rect">
              <a:avLst/>
            </a:prstGeom>
            <a:solidFill>
              <a:srgbClr val="E7443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56" name="Google Shape;656;p28"/>
            <p:cNvSpPr txBox="1"/>
            <p:nvPr/>
          </p:nvSpPr>
          <p:spPr>
            <a:xfrm>
              <a:off x="133350" y="57150"/>
              <a:ext cx="3467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3. Runtime Threats</a:t>
              </a:r>
              <a:endParaRPr sz="15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57" name="Google Shape;657;p28"/>
            <p:cNvSpPr txBox="1"/>
            <p:nvPr/>
          </p:nvSpPr>
          <p:spPr>
            <a:xfrm>
              <a:off x="133350" y="381000"/>
              <a:ext cx="34671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293370" algn="l" rtl="0"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Direct and indirect prompt injection vulnerabilities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3370" algn="l" rtl="0">
                <a:spcBef>
                  <a:spcPts val="450"/>
                </a:spcBef>
                <a:spcAft>
                  <a:spcPts val="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Jailbreaks and safety guardrail bypasses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3370" algn="l" rtl="0">
                <a:spcBef>
                  <a:spcPts val="450"/>
                </a:spcBef>
                <a:spcAft>
                  <a:spcPts val="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Token-bomb DoS attacks degrading availability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3370" algn="l" rtl="0">
                <a:spcBef>
                  <a:spcPts val="450"/>
                </a:spcBef>
                <a:spcAft>
                  <a:spcPts val="45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Insecure downstream outputs (e.g., SQL injection)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58" name="Google Shape;658;p28"/>
          <p:cNvGrpSpPr/>
          <p:nvPr/>
        </p:nvGrpSpPr>
        <p:grpSpPr>
          <a:xfrm>
            <a:off x="4686300" y="3105150"/>
            <a:ext cx="3733800" cy="1638300"/>
            <a:chOff x="0" y="0"/>
            <a:chExt cx="3733800" cy="1638300"/>
          </a:xfrm>
        </p:grpSpPr>
        <p:sp>
          <p:nvSpPr>
            <p:cNvPr id="659" name="Google Shape;659;p28"/>
            <p:cNvSpPr/>
            <p:nvPr/>
          </p:nvSpPr>
          <p:spPr>
            <a:xfrm>
              <a:off x="0" y="0"/>
              <a:ext cx="3733800" cy="1638300"/>
            </a:xfrm>
            <a:prstGeom prst="roundRect">
              <a:avLst>
                <a:gd name="adj" fmla="val 3488"/>
              </a:avLst>
            </a:prstGeom>
            <a:solidFill>
              <a:srgbClr val="E9EDEE">
                <a:alpha val="50000"/>
              </a:srgbClr>
            </a:solidFill>
            <a:ln w="14300" cap="flat" cmpd="sng">
              <a:solidFill>
                <a:srgbClr val="EB56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0" y="0"/>
              <a:ext cx="3733800" cy="304800"/>
            </a:xfrm>
            <a:prstGeom prst="roundRect">
              <a:avLst>
                <a:gd name="adj" fmla="val 1875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0" y="209550"/>
              <a:ext cx="3733800" cy="954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62" name="Google Shape;662;p28"/>
            <p:cNvSpPr txBox="1"/>
            <p:nvPr/>
          </p:nvSpPr>
          <p:spPr>
            <a:xfrm>
              <a:off x="133350" y="57150"/>
              <a:ext cx="3467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450"/>
                </a:spcAft>
                <a:buNone/>
              </a:pPr>
              <a:r>
                <a:rPr lang="en" sz="1500" b="1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4. Agentic &amp; Tool Access</a:t>
              </a:r>
              <a:endParaRPr sz="1500" b="1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63" name="Google Shape;663;p28"/>
            <p:cNvSpPr txBox="1"/>
            <p:nvPr/>
          </p:nvSpPr>
          <p:spPr>
            <a:xfrm>
              <a:off x="133350" y="381000"/>
              <a:ext cx="3467100" cy="116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293370" algn="l" rtl="0"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Unauthorized tool misuse and arbitrary file deletion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3370" algn="l" rtl="0">
                <a:spcBef>
                  <a:spcPts val="450"/>
                </a:spcBef>
                <a:spcAft>
                  <a:spcPts val="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Agent memory poisoning leading to persistent exploits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3370" algn="l" rtl="0">
                <a:spcBef>
                  <a:spcPts val="450"/>
                </a:spcBef>
                <a:spcAft>
                  <a:spcPts val="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Excessive privilege delegation to autonomous agents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293370" algn="l" rtl="0">
                <a:spcBef>
                  <a:spcPts val="450"/>
                </a:spcBef>
                <a:spcAft>
                  <a:spcPts val="450"/>
                </a:spcAft>
                <a:buClr>
                  <a:srgbClr val="595959"/>
                </a:buClr>
                <a:buSzPts val="1020"/>
                <a:buFont typeface="Lato"/>
                <a:buChar char="●"/>
              </a:pPr>
              <a:r>
                <a:rPr lang="en" sz="102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Model Context Protocol (MCP) server compromise</a:t>
              </a:r>
              <a:endParaRPr sz="102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oogle Shape;670;p29"/>
          <p:cNvGrpSpPr/>
          <p:nvPr/>
        </p:nvGrpSpPr>
        <p:grpSpPr>
          <a:xfrm>
            <a:off x="723900" y="1162050"/>
            <a:ext cx="748538" cy="45600"/>
            <a:chOff x="0" y="0"/>
            <a:chExt cx="748538" cy="45600"/>
          </a:xfrm>
        </p:grpSpPr>
        <p:sp>
          <p:nvSpPr>
            <p:cNvPr id="671" name="Google Shape;671;p29"/>
            <p:cNvSpPr/>
            <p:nvPr/>
          </p:nvSpPr>
          <p:spPr>
            <a:xfrm>
              <a:off x="0" y="0"/>
              <a:ext cx="376200" cy="456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376238" y="0"/>
              <a:ext cx="372300" cy="45600"/>
            </a:xfrm>
            <a:prstGeom prst="rect">
              <a:avLst/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</p:grpSp>
      <p:sp>
        <p:nvSpPr>
          <p:cNvPr id="673" name="Google Shape;673;p29"/>
          <p:cNvSpPr txBox="1"/>
          <p:nvPr/>
        </p:nvSpPr>
        <p:spPr>
          <a:xfrm>
            <a:off x="723900" y="668482"/>
            <a:ext cx="76962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2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Video Anomaly System: Threat Model &amp; Risk Assessment</a:t>
            </a:r>
            <a:endParaRPr sz="222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674" name="Google Shape;674;p29"/>
          <p:cNvGrpSpPr/>
          <p:nvPr/>
        </p:nvGrpSpPr>
        <p:grpSpPr>
          <a:xfrm>
            <a:off x="723900" y="1314450"/>
            <a:ext cx="7696200" cy="2705250"/>
            <a:chOff x="723900" y="1314450"/>
            <a:chExt cx="7696200" cy="2705250"/>
          </a:xfrm>
        </p:grpSpPr>
        <p:sp>
          <p:nvSpPr>
            <p:cNvPr id="675" name="Google Shape;675;p29"/>
            <p:cNvSpPr/>
            <p:nvPr/>
          </p:nvSpPr>
          <p:spPr>
            <a:xfrm>
              <a:off x="723900" y="1314450"/>
              <a:ext cx="7696200" cy="285900"/>
            </a:xfrm>
            <a:prstGeom prst="roundRect">
              <a:avLst>
                <a:gd name="adj" fmla="val 10000"/>
              </a:avLst>
            </a:prstGeom>
            <a:solidFill>
              <a:srgbClr val="1C367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76" name="Google Shape;676;p29"/>
            <p:cNvSpPr txBox="1"/>
            <p:nvPr/>
          </p:nvSpPr>
          <p:spPr>
            <a:xfrm>
              <a:off x="857250" y="1314450"/>
              <a:ext cx="1238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 dirty="0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SYSTEM LAYER</a:t>
              </a:r>
              <a:endParaRPr sz="900" b="1" dirty="0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77" name="Google Shape;677;p29"/>
            <p:cNvSpPr txBox="1"/>
            <p:nvPr/>
          </p:nvSpPr>
          <p:spPr>
            <a:xfrm>
              <a:off x="2171700" y="1314450"/>
              <a:ext cx="76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 dirty="0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EXPOSURE</a:t>
              </a:r>
              <a:endParaRPr sz="900" b="1" dirty="0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78" name="Google Shape;678;p29"/>
            <p:cNvSpPr txBox="1"/>
            <p:nvPr/>
          </p:nvSpPr>
          <p:spPr>
            <a:xfrm>
              <a:off x="3048000" y="1314450"/>
              <a:ext cx="247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 dirty="0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CURRENT MITIGATIONS</a:t>
              </a:r>
              <a:endParaRPr sz="900" b="1" dirty="0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79" name="Google Shape;679;p29"/>
            <p:cNvSpPr txBox="1"/>
            <p:nvPr/>
          </p:nvSpPr>
          <p:spPr>
            <a:xfrm>
              <a:off x="5619750" y="1314450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b="1" dirty="0">
                  <a:solidFill>
                    <a:srgbClr val="FFFFFF"/>
                  </a:solidFill>
                  <a:latin typeface="Old Standard TT" panose="020B0604020202020204" charset="0"/>
                  <a:ea typeface="Raleway"/>
                  <a:cs typeface="Raleway"/>
                  <a:sym typeface="Raleway"/>
                </a:rPr>
                <a:t>UNHANDLED VULNERABILITIES &amp; GAPS</a:t>
              </a:r>
              <a:endParaRPr sz="900" b="1" dirty="0">
                <a:solidFill>
                  <a:srgbClr val="FFFFFF"/>
                </a:solidFill>
                <a:latin typeface="Old Standard TT" panose="020B0604020202020204" charset="0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723900" y="1638300"/>
              <a:ext cx="7696200" cy="476400"/>
            </a:xfrm>
            <a:prstGeom prst="roundRect">
              <a:avLst>
                <a:gd name="adj" fmla="val 4000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cxnSp>
          <p:nvCxnSpPr>
            <p:cNvPr id="681" name="Google Shape;681;p29"/>
            <p:cNvCxnSpPr/>
            <p:nvPr/>
          </p:nvCxnSpPr>
          <p:spPr>
            <a:xfrm>
              <a:off x="723900" y="2114550"/>
              <a:ext cx="7696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82" name="Google Shape;682;p29"/>
            <p:cNvSpPr txBox="1"/>
            <p:nvPr/>
          </p:nvSpPr>
          <p:spPr>
            <a:xfrm>
              <a:off x="857250" y="1638300"/>
              <a:ext cx="12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Supply Chain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2171700" y="1771650"/>
              <a:ext cx="647700" cy="209700"/>
            </a:xfrm>
            <a:prstGeom prst="roundRect">
              <a:avLst>
                <a:gd name="adj" fmla="val 50000"/>
              </a:avLst>
            </a:prstGeom>
            <a:solidFill>
              <a:srgbClr val="FDEBD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84" name="Google Shape;684;p29"/>
            <p:cNvSpPr txBox="1"/>
            <p:nvPr/>
          </p:nvSpPr>
          <p:spPr>
            <a:xfrm>
              <a:off x="2171700" y="1771650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EB560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MEDIUM</a:t>
              </a:r>
              <a:endParaRPr sz="950" b="1">
                <a:solidFill>
                  <a:srgbClr val="EB560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85" name="Google Shape;685;p29"/>
            <p:cNvSpPr txBox="1"/>
            <p:nvPr/>
          </p:nvSpPr>
          <p:spPr>
            <a:xfrm>
              <a:off x="3048000" y="1638300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Dependency versions are pinned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86" name="Google Shape;686;p29"/>
            <p:cNvSpPr txBox="1"/>
            <p:nvPr/>
          </p:nvSpPr>
          <p:spPr>
            <a:xfrm>
              <a:off x="5619750" y="1638300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No signed provenance tracking</a:t>
              </a:r>
              <a:endParaRPr sz="1050" b="0">
                <a:solidFill>
                  <a:srgbClr val="E74435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723900" y="2124075"/>
              <a:ext cx="7696200" cy="4764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cxnSp>
          <p:nvCxnSpPr>
            <p:cNvPr id="688" name="Google Shape;688;p29"/>
            <p:cNvCxnSpPr/>
            <p:nvPr/>
          </p:nvCxnSpPr>
          <p:spPr>
            <a:xfrm>
              <a:off x="723900" y="2600325"/>
              <a:ext cx="7696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89" name="Google Shape;689;p29"/>
            <p:cNvSpPr txBox="1"/>
            <p:nvPr/>
          </p:nvSpPr>
          <p:spPr>
            <a:xfrm>
              <a:off x="857250" y="2124075"/>
              <a:ext cx="1238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Data Layer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2171700" y="2257425"/>
              <a:ext cx="647700" cy="209700"/>
            </a:xfrm>
            <a:prstGeom prst="roundRect">
              <a:avLst>
                <a:gd name="adj" fmla="val 50000"/>
              </a:avLst>
            </a:prstGeom>
            <a:solidFill>
              <a:srgbClr val="D4EFD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91" name="Google Shape;691;p29"/>
            <p:cNvSpPr txBox="1"/>
            <p:nvPr/>
          </p:nvSpPr>
          <p:spPr>
            <a:xfrm>
              <a:off x="2171700" y="2257425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27AE6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LOW</a:t>
              </a:r>
              <a:endParaRPr sz="950" b="1">
                <a:solidFill>
                  <a:srgbClr val="27AE6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92" name="Google Shape;692;p29"/>
            <p:cNvSpPr txBox="1"/>
            <p:nvPr/>
          </p:nvSpPr>
          <p:spPr>
            <a:xfrm>
              <a:off x="3048000" y="2124075"/>
              <a:ext cx="2476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Raw frames lack PII; processed strictly in-memory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93" name="Google Shape;693;p29"/>
            <p:cNvSpPr txBox="1"/>
            <p:nvPr/>
          </p:nvSpPr>
          <p:spPr>
            <a:xfrm>
              <a:off x="5619750" y="2124075"/>
              <a:ext cx="2667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Data provenance tracking unhandled</a:t>
              </a:r>
              <a:endParaRPr sz="1050" b="0">
                <a:solidFill>
                  <a:srgbClr val="E74435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723900" y="2609850"/>
              <a:ext cx="7696200" cy="514500"/>
            </a:xfrm>
            <a:prstGeom prst="roundRect">
              <a:avLst>
                <a:gd name="adj" fmla="val 3703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cxnSp>
          <p:nvCxnSpPr>
            <p:cNvPr id="695" name="Google Shape;695;p29"/>
            <p:cNvCxnSpPr/>
            <p:nvPr/>
          </p:nvCxnSpPr>
          <p:spPr>
            <a:xfrm>
              <a:off x="723900" y="3124200"/>
              <a:ext cx="7696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96" name="Google Shape;696;p29"/>
            <p:cNvSpPr txBox="1"/>
            <p:nvPr/>
          </p:nvSpPr>
          <p:spPr>
            <a:xfrm>
              <a:off x="857250" y="2609850"/>
              <a:ext cx="12384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Runtime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2171700" y="2762250"/>
              <a:ext cx="647700" cy="209700"/>
            </a:xfrm>
            <a:prstGeom prst="roundRect">
              <a:avLst>
                <a:gd name="adj" fmla="val 50000"/>
              </a:avLst>
            </a:prstGeom>
            <a:solidFill>
              <a:srgbClr val="FADBD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698" name="Google Shape;698;p29"/>
            <p:cNvSpPr txBox="1"/>
            <p:nvPr/>
          </p:nvSpPr>
          <p:spPr>
            <a:xfrm>
              <a:off x="2171700" y="2762250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HIGH</a:t>
              </a:r>
              <a:endParaRPr sz="950" b="1">
                <a:solidFill>
                  <a:srgbClr val="E74435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699" name="Google Shape;699;p29"/>
            <p:cNvSpPr txBox="1"/>
            <p:nvPr/>
          </p:nvSpPr>
          <p:spPr>
            <a:xfrm>
              <a:off x="3048000" y="2609850"/>
              <a:ext cx="24765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5MB payload size cap enforced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00" name="Google Shape;700;p29"/>
            <p:cNvSpPr txBox="1"/>
            <p:nvPr/>
          </p:nvSpPr>
          <p:spPr>
            <a:xfrm>
              <a:off x="5619750" y="2609850"/>
              <a:ext cx="26670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FastAPI endpoint lacks rate limiting &amp; adversarial frame testing</a:t>
              </a:r>
              <a:endParaRPr sz="1050" b="0">
                <a:solidFill>
                  <a:srgbClr val="E74435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723900" y="3133725"/>
              <a:ext cx="7696200" cy="438300"/>
            </a:xfrm>
            <a:prstGeom prst="roundRect">
              <a:avLst>
                <a:gd name="adj" fmla="val 4347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cxnSp>
          <p:nvCxnSpPr>
            <p:cNvPr id="702" name="Google Shape;702;p29"/>
            <p:cNvCxnSpPr/>
            <p:nvPr/>
          </p:nvCxnSpPr>
          <p:spPr>
            <a:xfrm>
              <a:off x="723900" y="3571875"/>
              <a:ext cx="76962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E9EDEE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03" name="Google Shape;703;p29"/>
            <p:cNvSpPr txBox="1"/>
            <p:nvPr/>
          </p:nvSpPr>
          <p:spPr>
            <a:xfrm>
              <a:off x="857250" y="3133725"/>
              <a:ext cx="12384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Model Integrity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2171700" y="3248025"/>
              <a:ext cx="647700" cy="209700"/>
            </a:xfrm>
            <a:prstGeom prst="roundRect">
              <a:avLst>
                <a:gd name="adj" fmla="val 50000"/>
              </a:avLst>
            </a:prstGeom>
            <a:solidFill>
              <a:srgbClr val="D4EFD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05" name="Google Shape;705;p29"/>
            <p:cNvSpPr txBox="1"/>
            <p:nvPr/>
          </p:nvSpPr>
          <p:spPr>
            <a:xfrm>
              <a:off x="2171700" y="3248025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27AE6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LOW</a:t>
              </a:r>
              <a:endParaRPr sz="950" b="1">
                <a:solidFill>
                  <a:srgbClr val="27AE6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06" name="Google Shape;706;p29"/>
            <p:cNvSpPr txBox="1"/>
            <p:nvPr/>
          </p:nvSpPr>
          <p:spPr>
            <a:xfrm>
              <a:off x="3048000" y="3133725"/>
              <a:ext cx="2476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Evaluated low exposure risk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07" name="Google Shape;707;p29"/>
            <p:cNvSpPr txBox="1"/>
            <p:nvPr/>
          </p:nvSpPr>
          <p:spPr>
            <a:xfrm>
              <a:off x="5619750" y="3133725"/>
              <a:ext cx="266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None identified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723900" y="3581400"/>
              <a:ext cx="7696200" cy="438300"/>
            </a:xfrm>
            <a:prstGeom prst="roundRect">
              <a:avLst>
                <a:gd name="adj" fmla="val 4347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09" name="Google Shape;709;p29"/>
            <p:cNvSpPr txBox="1"/>
            <p:nvPr/>
          </p:nvSpPr>
          <p:spPr>
            <a:xfrm>
              <a:off x="857250" y="3581400"/>
              <a:ext cx="12384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Output Layer</a:t>
              </a:r>
              <a:endParaRPr sz="1100" b="1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2171700" y="3695700"/>
              <a:ext cx="647700" cy="209700"/>
            </a:xfrm>
            <a:prstGeom prst="roundRect">
              <a:avLst>
                <a:gd name="adj" fmla="val 50000"/>
              </a:avLst>
            </a:prstGeom>
            <a:solidFill>
              <a:srgbClr val="D4EFD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11" name="Google Shape;711;p29"/>
            <p:cNvSpPr txBox="1"/>
            <p:nvPr/>
          </p:nvSpPr>
          <p:spPr>
            <a:xfrm>
              <a:off x="2171700" y="3695700"/>
              <a:ext cx="6477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 b="1">
                  <a:solidFill>
                    <a:srgbClr val="27AE6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LOW</a:t>
              </a:r>
              <a:endParaRPr sz="950" b="1">
                <a:solidFill>
                  <a:srgbClr val="27AE6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12" name="Google Shape;712;p29"/>
            <p:cNvSpPr txBox="1"/>
            <p:nvPr/>
          </p:nvSpPr>
          <p:spPr>
            <a:xfrm>
              <a:off x="3048000" y="3581400"/>
              <a:ext cx="24765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Low risk; zero agentic risk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  <p:sp>
          <p:nvSpPr>
            <p:cNvPr id="713" name="Google Shape;713;p29"/>
            <p:cNvSpPr txBox="1"/>
            <p:nvPr/>
          </p:nvSpPr>
          <p:spPr>
            <a:xfrm>
              <a:off x="5619750" y="3581400"/>
              <a:ext cx="2667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None identified</a:t>
              </a:r>
              <a:endParaRPr sz="105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14" name="Google Shape;714;p29"/>
          <p:cNvGrpSpPr/>
          <p:nvPr/>
        </p:nvGrpSpPr>
        <p:grpSpPr>
          <a:xfrm>
            <a:off x="723900" y="4191000"/>
            <a:ext cx="7696200" cy="457200"/>
            <a:chOff x="723900" y="4191000"/>
            <a:chExt cx="7696200" cy="457200"/>
          </a:xfrm>
        </p:grpSpPr>
        <p:sp>
          <p:nvSpPr>
            <p:cNvPr id="715" name="Google Shape;715;p29"/>
            <p:cNvSpPr/>
            <p:nvPr/>
          </p:nvSpPr>
          <p:spPr>
            <a:xfrm>
              <a:off x="723900" y="4191000"/>
              <a:ext cx="7696200" cy="457200"/>
            </a:xfrm>
            <a:prstGeom prst="roundRect">
              <a:avLst>
                <a:gd name="adj" fmla="val 8333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723900" y="4191000"/>
              <a:ext cx="47700" cy="457200"/>
            </a:xfrm>
            <a:prstGeom prst="roundRect">
              <a:avLst>
                <a:gd name="adj" fmla="val 4000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17" name="Google Shape;717;p29"/>
            <p:cNvSpPr txBox="1"/>
            <p:nvPr/>
          </p:nvSpPr>
          <p:spPr>
            <a:xfrm>
              <a:off x="904875" y="4191000"/>
              <a:ext cx="7381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1C367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Key Security Takeaway:</a:t>
              </a:r>
              <a:r>
                <a:rPr lang="en" sz="1100" b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Unhandled system vulnerabilities are strictly localized to </a:t>
              </a:r>
              <a:r>
                <a:rPr lang="en" sz="1100" b="1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adversarial frame attacks</a:t>
              </a:r>
              <a:r>
                <a:rPr lang="en" sz="1100" b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 at the Runtime layer and missing </a:t>
              </a:r>
              <a:r>
                <a:rPr lang="en" sz="1100" b="1">
                  <a:solidFill>
                    <a:srgbClr val="E74435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data provenance tracking</a:t>
              </a:r>
              <a:r>
                <a:rPr lang="en" sz="1100" b="0">
                  <a:solidFill>
                    <a:srgbClr val="1A1A1A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.</a:t>
              </a:r>
              <a:endParaRPr sz="1100" b="0">
                <a:solidFill>
                  <a:srgbClr val="1A1A1A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0"/>
          <p:cNvSpPr txBox="1"/>
          <p:nvPr/>
        </p:nvSpPr>
        <p:spPr>
          <a:xfrm>
            <a:off x="723900" y="723900"/>
            <a:ext cx="7686600" cy="5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2600" b="1" dirty="0">
                <a:solidFill>
                  <a:srgbClr val="1A1A1A"/>
                </a:solidFill>
                <a:latin typeface="Old Standard TT" panose="020B0604020202020204" charset="0"/>
                <a:ea typeface="Raleway"/>
                <a:cs typeface="Raleway"/>
                <a:sym typeface="Raleway"/>
              </a:rPr>
              <a:t>LLM Security Architecture: Cisco vs. Prisma AIRS</a:t>
            </a:r>
            <a:endParaRPr sz="2600" b="1" dirty="0">
              <a:solidFill>
                <a:srgbClr val="1A1A1A"/>
              </a:solidFill>
              <a:latin typeface="Old Standard TT" panose="020B0604020202020204" charset="0"/>
              <a:ea typeface="Raleway"/>
              <a:cs typeface="Raleway"/>
              <a:sym typeface="Raleway"/>
            </a:endParaRPr>
          </a:p>
        </p:txBody>
      </p:sp>
      <p:grpSp>
        <p:nvGrpSpPr>
          <p:cNvPr id="729" name="Google Shape;729;p30"/>
          <p:cNvGrpSpPr/>
          <p:nvPr/>
        </p:nvGrpSpPr>
        <p:grpSpPr>
          <a:xfrm>
            <a:off x="723900" y="1352550"/>
            <a:ext cx="3714900" cy="2381400"/>
            <a:chOff x="0" y="0"/>
            <a:chExt cx="3714900" cy="2381400"/>
          </a:xfrm>
        </p:grpSpPr>
        <p:sp>
          <p:nvSpPr>
            <p:cNvPr id="730" name="Google Shape;730;p30"/>
            <p:cNvSpPr/>
            <p:nvPr/>
          </p:nvSpPr>
          <p:spPr>
            <a:xfrm>
              <a:off x="0" y="0"/>
              <a:ext cx="3714900" cy="2381400"/>
            </a:xfrm>
            <a:prstGeom prst="roundRect">
              <a:avLst>
                <a:gd name="adj" fmla="val 1600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31" name="Google Shape;731;p30"/>
            <p:cNvSpPr/>
            <p:nvPr/>
          </p:nvSpPr>
          <p:spPr>
            <a:xfrm>
              <a:off x="0" y="0"/>
              <a:ext cx="3714900" cy="57300"/>
            </a:xfrm>
            <a:prstGeom prst="roundRect">
              <a:avLst>
                <a:gd name="adj" fmla="val 0"/>
              </a:avLst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32" name="Google Shape;732;p30"/>
            <p:cNvSpPr txBox="1"/>
            <p:nvPr/>
          </p:nvSpPr>
          <p:spPr>
            <a:xfrm>
              <a:off x="152400" y="152400"/>
              <a:ext cx="34101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A9988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Cisco AI Defense</a:t>
              </a:r>
              <a:endParaRPr sz="1400" b="1">
                <a:solidFill>
                  <a:srgbClr val="1A9988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1150" algn="l" rtl="0">
                <a:spcBef>
                  <a:spcPts val="75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Operates directly at the Network and API gateway layer.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Inspects LLM input/output at transport with inline blocking capabilities.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60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Ideal for organizations built on the Cisco stack needing fast API-layer protection.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33" name="Google Shape;733;p30"/>
          <p:cNvGrpSpPr/>
          <p:nvPr/>
        </p:nvGrpSpPr>
        <p:grpSpPr>
          <a:xfrm>
            <a:off x="4695825" y="1352550"/>
            <a:ext cx="3714900" cy="2381400"/>
            <a:chOff x="0" y="0"/>
            <a:chExt cx="3714900" cy="2381400"/>
          </a:xfrm>
        </p:grpSpPr>
        <p:sp>
          <p:nvSpPr>
            <p:cNvPr id="734" name="Google Shape;734;p30"/>
            <p:cNvSpPr/>
            <p:nvPr/>
          </p:nvSpPr>
          <p:spPr>
            <a:xfrm>
              <a:off x="0" y="0"/>
              <a:ext cx="3714900" cy="2381400"/>
            </a:xfrm>
            <a:prstGeom prst="roundRect">
              <a:avLst>
                <a:gd name="adj" fmla="val 1600"/>
              </a:avLst>
            </a:prstGeom>
            <a:solidFill>
              <a:srgbClr val="E9EDE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35" name="Google Shape;735;p30"/>
            <p:cNvSpPr/>
            <p:nvPr/>
          </p:nvSpPr>
          <p:spPr>
            <a:xfrm>
              <a:off x="0" y="0"/>
              <a:ext cx="3714900" cy="57300"/>
            </a:xfrm>
            <a:prstGeom prst="roundRect">
              <a:avLst>
                <a:gd name="adj" fmla="val 0"/>
              </a:avLst>
            </a:prstGeom>
            <a:solidFill>
              <a:srgbClr val="EB56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36" name="Google Shape;736;p30"/>
            <p:cNvSpPr txBox="1"/>
            <p:nvPr/>
          </p:nvSpPr>
          <p:spPr>
            <a:xfrm>
              <a:off x="152400" y="152400"/>
              <a:ext cx="3410100" cy="207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EB5600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Palo Alto Prisma AIRS</a:t>
              </a:r>
              <a:endParaRPr sz="1400" b="1">
                <a:solidFill>
                  <a:srgbClr val="EB5600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1150" algn="l" rtl="0">
                <a:spcBef>
                  <a:spcPts val="75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Provides robust, platform-wide security architecture.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Features multi-turn contextual analysis and RAG-aware tracing.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600"/>
                </a:spcAft>
                <a:buClr>
                  <a:srgbClr val="595959"/>
                </a:buClr>
                <a:buSzPts val="1300"/>
                <a:buFont typeface="Lato"/>
                <a:buChar char="●"/>
              </a:pPr>
              <a:r>
                <a:rPr lang="en" sz="1300" b="0">
                  <a:solidFill>
                    <a:srgbClr val="595959"/>
                  </a:solidFill>
                  <a:latin typeface="Old Standard TT" panose="020B0604020202020204" charset="0"/>
                  <a:ea typeface="Lato"/>
                  <a:cs typeface="Lato"/>
                  <a:sym typeface="Lato"/>
                </a:rPr>
                <a:t>Delivers MCP policy enforcement, making it best for agentic LLM systems.</a:t>
              </a:r>
              <a:endParaRPr sz="1300" b="0">
                <a:solidFill>
                  <a:srgbClr val="595959"/>
                </a:solidFill>
                <a:latin typeface="Old Standard TT" panose="020B0604020202020204" charset="0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37" name="Google Shape;737;p30"/>
          <p:cNvGrpSpPr/>
          <p:nvPr/>
        </p:nvGrpSpPr>
        <p:grpSpPr>
          <a:xfrm>
            <a:off x="723900" y="3905250"/>
            <a:ext cx="7686600" cy="514500"/>
            <a:chOff x="0" y="0"/>
            <a:chExt cx="7686600" cy="514500"/>
          </a:xfrm>
        </p:grpSpPr>
        <p:sp>
          <p:nvSpPr>
            <p:cNvPr id="738" name="Google Shape;738;p30"/>
            <p:cNvSpPr/>
            <p:nvPr/>
          </p:nvSpPr>
          <p:spPr>
            <a:xfrm>
              <a:off x="0" y="0"/>
              <a:ext cx="7686600" cy="514500"/>
            </a:xfrm>
            <a:prstGeom prst="rect">
              <a:avLst/>
            </a:prstGeom>
            <a:solidFill>
              <a:srgbClr val="1A99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ld Standard TT" panose="020B0604020202020204" charset="0"/>
              </a:endParaRPr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0" y="0"/>
              <a:ext cx="7686600" cy="5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152400" tIns="76200" rIns="152400" bIns="762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70" b="1" i="0" u="none" strike="noStrike">
                  <a:solidFill>
                    <a:srgbClr val="FFFFFF"/>
                  </a:solidFill>
                  <a:latin typeface="Old Standard TT" panose="020B0604020202020204" charset="0"/>
                  <a:sym typeface="Arial"/>
                </a:rPr>
                <a:t>Strategic Takeaway:</a:t>
              </a:r>
              <a:endParaRPr sz="770" b="1" i="0" u="none" strike="noStrike">
                <a:solidFill>
                  <a:srgbClr val="FFFFFF"/>
                </a:solidFill>
                <a:latin typeface="Old Standard TT" panose="020B0604020202020204" charset="0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700" b="0" i="0" u="none" strike="noStrike">
                  <a:solidFill>
                    <a:srgbClr val="FFFFFF"/>
                  </a:solidFill>
                  <a:latin typeface="Old Standard TT" panose="020B0604020202020204" charset="0"/>
                  <a:sym typeface="Arial"/>
                </a:rPr>
                <a:t>Organizations must map products to specific threat layers: Cisco fits REST API input checks, while Prisma AIRS fits agentic access—though neither covers the full supply chain.</a:t>
              </a:r>
              <a:endParaRPr sz="700" b="1" i="0" u="none" strike="noStrike">
                <a:solidFill>
                  <a:srgbClr val="FFFFFF"/>
                </a:solidFill>
                <a:latin typeface="Old Standard TT" panose="020B0604020202020204" charset="0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/>
        </p:nvSpPr>
        <p:spPr>
          <a:xfrm>
            <a:off x="0" y="-7950"/>
            <a:ext cx="7128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20</a:t>
            </a:r>
            <a:endParaRPr sz="1400" b="0" i="0" u="none" strike="noStrike" cap="non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191919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24</a:t>
            </a:r>
            <a:endParaRPr sz="1400" b="0" i="0" u="none" strike="noStrike" cap="non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1724250" y="-7954"/>
            <a:ext cx="56955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1" u="none" strike="noStrike" cap="none">
              <a:solidFill>
                <a:srgbClr val="191919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2295150" y="1345646"/>
            <a:ext cx="4553700" cy="10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ld Standard TT"/>
              <a:buNone/>
            </a:pPr>
            <a:r>
              <a:rPr lang="en-US" sz="6600" b="1" i="0" u="none" strike="noStrike" cap="non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Thanks!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1724250" y="2369846"/>
            <a:ext cx="5500514" cy="14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Do you have any questions?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sz="1400" b="1" i="0" u="none" strike="noStrike" cap="none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Name</a:t>
            </a:r>
            <a:endParaRPr sz="1400" b="1" i="0" u="none" strike="noStrike" cap="none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l Research Paper Slideshow by Slidesgo">
  <a:themeElements>
    <a:clrScheme name="Simple Light">
      <a:dk1>
        <a:srgbClr val="191919"/>
      </a:dk1>
      <a:lt1>
        <a:srgbClr val="FFFFFF"/>
      </a:lt1>
      <a:dk2>
        <a:srgbClr val="DDD9D5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2357</Words>
  <Application>Microsoft Office PowerPoint</Application>
  <PresentationFormat>On-screen Show (16:9)</PresentationFormat>
  <Paragraphs>381</Paragraphs>
  <Slides>30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Didact Gothic</vt:lpstr>
      <vt:lpstr>Anaheim</vt:lpstr>
      <vt:lpstr>Lato</vt:lpstr>
      <vt:lpstr>Arial</vt:lpstr>
      <vt:lpstr>Old Standard TT</vt:lpstr>
      <vt:lpstr>Roboto Condensed Light</vt:lpstr>
      <vt:lpstr>Formal Research Paper Slideshow by Slidesgo</vt:lpstr>
      <vt:lpstr>Hello I’m </vt:lpstr>
      <vt:lpstr>Topic 1</vt:lpstr>
      <vt:lpstr>Problem Statement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2</vt:lpstr>
      <vt:lpstr>PowerPoint Presentation</vt:lpstr>
      <vt:lpstr>PowerPoint Presentation</vt:lpstr>
      <vt:lpstr>PowerPoint Presentation</vt:lpstr>
      <vt:lpstr>Topic 3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Atanu Roy</cp:lastModifiedBy>
  <cp:revision>9</cp:revision>
  <dcterms:modified xsi:type="dcterms:W3CDTF">2026-09-21T20:09:05Z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2024-02-07T09:06:48Z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d93996ad-8164-4d5e-a313-d306eb0094f3</vt:lpwstr>
  </property>
  <property fmtid="{D5CDD505-2E9C-101B-9397-08002B2CF9AE}" pid="7" name="MSIP_Label_defa4170-0d19-0005-0004-bc88714345d2_ActionId">
    <vt:lpwstr>b6d4fe2f-6a6c-4db3-8aed-e1cccff7f6f6</vt:lpwstr>
  </property>
  <property fmtid="{D5CDD505-2E9C-101B-9397-08002B2CF9AE}" pid="8" name="MSIP_Label_defa4170-0d19-0005-0004-bc88714345d2_ContentBits">
    <vt:lpwstr>0</vt:lpwstr>
  </property>
</Properties>
</file>